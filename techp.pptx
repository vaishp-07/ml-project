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8" r:id="rId3"/>
    <p:sldId id="259" r:id="rId4"/>
    <p:sldId id="260" r:id="rId5"/>
    <p:sldId id="262" r:id="rId6"/>
    <p:sldId id="263" r:id="rId7"/>
    <p:sldId id="264" r:id="rId8"/>
    <p:sldId id="265" r:id="rId9"/>
    <p:sldId id="266" r:id="rId10"/>
    <p:sldId id="267" r:id="rId11"/>
    <p:sldId id="268" r:id="rId12"/>
    <p:sldId id="269" r:id="rId13"/>
    <p:sldId id="270"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19" autoAdjust="0"/>
    <p:restoredTop sz="94660"/>
  </p:normalViewPr>
  <p:slideViewPr>
    <p:cSldViewPr snapToGrid="0">
      <p:cViewPr varScale="1">
        <p:scale>
          <a:sx n="96" d="100"/>
          <a:sy n="96" d="100"/>
        </p:scale>
        <p:origin x="9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7324B3-D0EE-40D7-ADDD-9AC860C7E624}" type="datetimeFigureOut">
              <a:rPr lang="en-US" smtClean="0"/>
              <a:t>9/3/2025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C2A8C-AC27-4C6A-93B4-A8B033B50F0B}" type="slidenum">
              <a:rPr lang="en-US" smtClean="0"/>
              <a:t>‹#›</a:t>
            </a:fld>
            <a:endParaRPr lang="en-US"/>
          </a:p>
        </p:txBody>
      </p:sp>
    </p:spTree>
    <p:extLst>
      <p:ext uri="{BB962C8B-B14F-4D97-AF65-F5344CB8AC3E}">
        <p14:creationId xmlns:p14="http://schemas.microsoft.com/office/powerpoint/2010/main" val="1398476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74C2A8C-AC27-4C6A-93B4-A8B033B50F0B}" type="slidenum">
              <a:rPr lang="en-US" smtClean="0"/>
              <a:t>2</a:t>
            </a:fld>
            <a:endParaRPr lang="en-US"/>
          </a:p>
        </p:txBody>
      </p:sp>
    </p:spTree>
    <p:extLst>
      <p:ext uri="{BB962C8B-B14F-4D97-AF65-F5344CB8AC3E}">
        <p14:creationId xmlns:p14="http://schemas.microsoft.com/office/powerpoint/2010/main" val="3466512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74C2A8C-AC27-4C6A-93B4-A8B033B50F0B}" type="slidenum">
              <a:rPr lang="en-US" smtClean="0"/>
              <a:t>3</a:t>
            </a:fld>
            <a:endParaRPr lang="en-US"/>
          </a:p>
        </p:txBody>
      </p:sp>
    </p:spTree>
    <p:extLst>
      <p:ext uri="{BB962C8B-B14F-4D97-AF65-F5344CB8AC3E}">
        <p14:creationId xmlns:p14="http://schemas.microsoft.com/office/powerpoint/2010/main" val="4145765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520A8D-91F4-4793-85EF-5A13F1F44AE0}" type="datetime1">
              <a:rPr lang="en-US" smtClean="0"/>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1013395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42F29A-1390-4EC2-B6C4-32446BDB456C}" type="datetime1">
              <a:rPr lang="en-US" smtClean="0"/>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2007395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4E44F2-AF7F-40A0-8F2B-514AE5312BBD}" type="datetime1">
              <a:rPr lang="en-US" smtClean="0"/>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3403620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611D77-1B48-4780-AA3B-B61CE5093C7D}" type="datetime1">
              <a:rPr lang="en-US" smtClean="0"/>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546306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BBAA60-2924-4BF8-BEA1-40CA4B6C86DC}" type="datetime1">
              <a:rPr lang="en-US" smtClean="0"/>
              <a:t>9/3/2025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3633819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E7A24A-CD7D-464D-9141-7E2271B6B5FA}" type="datetime1">
              <a:rPr lang="en-US" smtClean="0"/>
              <a:t>9/3/2025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2420162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3523D0-955F-4A75-BA37-663C08B36BE9}" type="datetime1">
              <a:rPr lang="en-US" smtClean="0"/>
              <a:t>9/3/2025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2925993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963CA5-8250-4170-BF52-685E05BC23B9}" type="datetime1">
              <a:rPr lang="en-US" smtClean="0"/>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1117126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933A50-D865-4472-9458-6DB97646B4B6}" type="datetime1">
              <a:rPr lang="en-US" smtClean="0"/>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693828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B45660-8480-4B98-839A-2BFD506CB1C2}" type="datetime1">
              <a:rPr lang="en-US" smtClean="0"/>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2364536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DA562A-91F2-495B-9F73-DD9E2BE33615}" type="datetime1">
              <a:rPr lang="en-US" smtClean="0"/>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ECB1CF0-DA67-4B17-9956-9BE2C3E41A0B}"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774647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FDC959F-A296-4A7C-9917-B2AB605CF80F}" type="datetime1">
              <a:rPr lang="en-US" smtClean="0"/>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3911523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06CD16D-D08F-483A-87DE-A11D97E5888A}" type="datetime1">
              <a:rPr lang="en-US" smtClean="0"/>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ECB1CF0-DA67-4B17-9956-9BE2C3E41A0B}"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35378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61649AA-EA99-47CD-9B7F-E32D7AA869CF}" type="datetime1">
              <a:rPr lang="en-US" smtClean="0"/>
              <a:t>9/3/2025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3594453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0A5640-01A1-41A2-A203-1BF8205D80B8}" type="datetime1">
              <a:rPr lang="en-US" smtClean="0"/>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30123999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A6740E-A99F-4B49-ABB5-04710133B2F9}" type="datetime1">
              <a:rPr lang="en-US" smtClean="0"/>
              <a:t>9/3/2025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ECB1CF0-DA67-4B17-9956-9BE2C3E41A0B}" type="slidenum">
              <a:rPr lang="en-US" smtClean="0"/>
              <a:t>‹#›</a:t>
            </a:fld>
            <a:endParaRPr lang="en-US" dirty="0"/>
          </a:p>
        </p:txBody>
      </p:sp>
    </p:spTree>
    <p:extLst>
      <p:ext uri="{BB962C8B-B14F-4D97-AF65-F5344CB8AC3E}">
        <p14:creationId xmlns:p14="http://schemas.microsoft.com/office/powerpoint/2010/main" val="40248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E6F1CE1-B6E3-48B0-9BB5-9FB2C380F76E}" type="datetime1">
              <a:rPr lang="en-US" smtClean="0"/>
              <a:t>9/3/2025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ECB1CF0-DA67-4B17-9956-9BE2C3E41A0B}" type="slidenum">
              <a:rPr lang="en-US" smtClean="0"/>
              <a:t>‹#›</a:t>
            </a:fld>
            <a:endParaRPr lang="en-US" dirty="0"/>
          </a:p>
        </p:txBody>
      </p:sp>
    </p:spTree>
    <p:extLst>
      <p:ext uri="{BB962C8B-B14F-4D97-AF65-F5344CB8AC3E}">
        <p14:creationId xmlns:p14="http://schemas.microsoft.com/office/powerpoint/2010/main" val="15546559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cs230.stanford.edu/projects_winter_2020/reports/32610274.pdf?utm_source=chatgpt.com"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www.kaggle.com/datasets/ananthu017/emotion-detection-fer"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35876" y="1391058"/>
            <a:ext cx="9144000" cy="682686"/>
          </a:xfrm>
        </p:spPr>
        <p:txBody>
          <a:bodyPr>
            <a:noAutofit/>
          </a:bodyPr>
          <a:lstStyle/>
          <a:p>
            <a:pPr>
              <a:lnSpc>
                <a:spcPct val="100000"/>
              </a:lnSpc>
            </a:pPr>
            <a:r>
              <a:rPr lang="en-US" sz="3200" dirty="0">
                <a:latin typeface="Bookman Old Style" panose="02050604050505020204" pitchFamily="18" charset="0"/>
              </a:rPr>
              <a:t>   </a:t>
            </a: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r>
              <a:rPr lang="en-US" sz="3200" dirty="0">
                <a:latin typeface="Bookman Old Style" panose="02050604050505020204" pitchFamily="18" charset="0"/>
              </a:rPr>
              <a:t>                                                                                          </a:t>
            </a: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br>
              <a:rPr lang="en-US" sz="3200" dirty="0">
                <a:latin typeface="Bookman Old Style" panose="02050604050505020204" pitchFamily="18" charset="0"/>
              </a:rPr>
            </a:br>
            <a:r>
              <a:rPr lang="en-US" sz="3200" dirty="0">
                <a:latin typeface="Bookman Old Style" panose="02050604050505020204" pitchFamily="18" charset="0"/>
              </a:rPr>
              <a:t>        </a:t>
            </a:r>
            <a:r>
              <a:rPr lang="en-US" sz="2800" dirty="0">
                <a:latin typeface="Bookman Old Style" panose="02050604050505020204" pitchFamily="18" charset="0"/>
              </a:rPr>
              <a:t>Government College of Engineering, Karad</a:t>
            </a:r>
            <a:br>
              <a:rPr lang="en-US" sz="3200" dirty="0">
                <a:latin typeface="Bookman Old Style" panose="02050604050505020204" pitchFamily="18" charset="0"/>
              </a:rPr>
            </a:br>
            <a:r>
              <a:rPr lang="en-US" sz="3200" dirty="0">
                <a:latin typeface="Bookman Old Style" panose="02050604050505020204" pitchFamily="18" charset="0"/>
              </a:rPr>
              <a:t>              </a:t>
            </a:r>
            <a:r>
              <a:rPr lang="en-US" sz="1800" dirty="0">
                <a:latin typeface="Bookman Old Style" panose="02050604050505020204" pitchFamily="18" charset="0"/>
              </a:rPr>
              <a:t>(</a:t>
            </a:r>
            <a:r>
              <a:rPr lang="en-US" sz="1600" dirty="0">
                <a:latin typeface="Bookman Old Style" panose="02050604050505020204" pitchFamily="18" charset="0"/>
              </a:rPr>
              <a:t>An Autonomous Institute of Government of Maharashtra)</a:t>
            </a:r>
            <a:br>
              <a:rPr lang="mr-IN" sz="1800" dirty="0">
                <a:latin typeface="Bookman Old Style" panose="02050604050505020204" pitchFamily="18" charset="0"/>
              </a:rPr>
            </a:br>
            <a:br>
              <a:rPr lang="mr-IN" sz="1800" dirty="0">
                <a:latin typeface="Bookman Old Style" panose="02050604050505020204" pitchFamily="18" charset="0"/>
              </a:rPr>
            </a:br>
            <a:r>
              <a:rPr lang="en-US" sz="2000" dirty="0">
                <a:latin typeface="Bookman Old Style" panose="02050604050505020204" pitchFamily="18" charset="0"/>
              </a:rPr>
              <a:t>                          </a:t>
            </a:r>
            <a:r>
              <a:rPr lang="mr-IN" sz="2000" b="1" dirty="0">
                <a:latin typeface="Bookman Old Style" panose="02050604050505020204" pitchFamily="18" charset="0"/>
              </a:rPr>
              <a:t>Department of Information Technology</a:t>
            </a:r>
            <a:br>
              <a:rPr lang="en-US" sz="2000" dirty="0">
                <a:latin typeface="Bookman Old Style" panose="02050604050505020204" pitchFamily="18" charset="0"/>
              </a:rPr>
            </a:br>
            <a:endParaRPr lang="en-US" sz="3600" dirty="0">
              <a:latin typeface="Bookman Old Style" panose="02050604050505020204" pitchFamily="18" charset="0"/>
            </a:endParaRPr>
          </a:p>
        </p:txBody>
      </p:sp>
      <p:sp>
        <p:nvSpPr>
          <p:cNvPr id="3" name="Subtitle 2"/>
          <p:cNvSpPr>
            <a:spLocks noGrp="1"/>
          </p:cNvSpPr>
          <p:nvPr>
            <p:ph type="subTitle" idx="1"/>
          </p:nvPr>
        </p:nvSpPr>
        <p:spPr>
          <a:xfrm>
            <a:off x="285008" y="1716088"/>
            <a:ext cx="11459688" cy="4518457"/>
          </a:xfrm>
        </p:spPr>
        <p:txBody>
          <a:bodyPr>
            <a:normAutofit/>
          </a:bodyPr>
          <a:lstStyle/>
          <a:p>
            <a:pPr>
              <a:lnSpc>
                <a:spcPct val="150000"/>
              </a:lnSpc>
            </a:pPr>
            <a:r>
              <a:rPr lang="en-US" dirty="0">
                <a:latin typeface="Bookman Old Style" panose="02050604050505020204" pitchFamily="18" charset="0"/>
              </a:rPr>
              <a:t>                                                        </a:t>
            </a:r>
            <a:r>
              <a:rPr lang="mr-IN" dirty="0">
                <a:solidFill>
                  <a:schemeClr val="tx1"/>
                </a:solidFill>
                <a:latin typeface="Bookman Old Style" panose="02050604050505020204" pitchFamily="18" charset="0"/>
              </a:rPr>
              <a:t>Third Year B.Tech.</a:t>
            </a:r>
            <a:r>
              <a:rPr lang="en-US" dirty="0">
                <a:solidFill>
                  <a:schemeClr val="tx1"/>
                </a:solidFill>
                <a:latin typeface="Bookman Old Style" panose="02050604050505020204" pitchFamily="18" charset="0"/>
              </a:rPr>
              <a:t> SEM-VI</a:t>
            </a:r>
          </a:p>
          <a:p>
            <a:pPr>
              <a:lnSpc>
                <a:spcPct val="150000"/>
              </a:lnSpc>
            </a:pPr>
            <a:r>
              <a:rPr lang="mr-IN" dirty="0">
                <a:solidFill>
                  <a:schemeClr val="tx1"/>
                </a:solidFill>
                <a:latin typeface="Bookman Old Style" panose="02050604050505020204" pitchFamily="18" charset="0"/>
              </a:rPr>
              <a:t> </a:t>
            </a:r>
            <a:r>
              <a:rPr lang="en-US" dirty="0">
                <a:solidFill>
                  <a:schemeClr val="tx1"/>
                </a:solidFill>
                <a:latin typeface="Bookman Old Style" panose="02050604050505020204" pitchFamily="18" charset="0"/>
              </a:rPr>
              <a:t>                                                              </a:t>
            </a:r>
            <a:r>
              <a:rPr lang="mr-IN" dirty="0">
                <a:solidFill>
                  <a:schemeClr val="tx1"/>
                </a:solidFill>
                <a:latin typeface="Bookman Old Style" panose="02050604050505020204" pitchFamily="18" charset="0"/>
              </a:rPr>
              <a:t>[Summer-202</a:t>
            </a:r>
            <a:r>
              <a:rPr lang="en-IN" dirty="0">
                <a:solidFill>
                  <a:schemeClr val="tx1"/>
                </a:solidFill>
                <a:latin typeface="Bookman Old Style" panose="02050604050505020204" pitchFamily="18" charset="0"/>
              </a:rPr>
              <a:t>5</a:t>
            </a:r>
            <a:r>
              <a:rPr lang="mr-IN" dirty="0">
                <a:solidFill>
                  <a:schemeClr val="tx1"/>
                </a:solidFill>
                <a:latin typeface="Bookman Old Style" panose="02050604050505020204" pitchFamily="18" charset="0"/>
              </a:rPr>
              <a:t>]</a:t>
            </a:r>
          </a:p>
          <a:p>
            <a:pPr>
              <a:lnSpc>
                <a:spcPct val="150000"/>
              </a:lnSpc>
            </a:pPr>
            <a:r>
              <a:rPr lang="en-US" b="1" dirty="0">
                <a:solidFill>
                  <a:schemeClr val="tx1"/>
                </a:solidFill>
                <a:latin typeface="Bookman Old Style" panose="02050604050505020204" pitchFamily="18" charset="0"/>
              </a:rPr>
              <a:t>                                          </a:t>
            </a:r>
            <a:r>
              <a:rPr lang="mr-IN" b="1" dirty="0">
                <a:solidFill>
                  <a:schemeClr val="tx1"/>
                </a:solidFill>
                <a:latin typeface="Bookman Old Style" panose="02050604050505020204" pitchFamily="18" charset="0"/>
              </a:rPr>
              <a:t>IT2610: Technical Presentation  [ REVIEW</a:t>
            </a:r>
            <a:r>
              <a:rPr lang="en-US" b="1" dirty="0">
                <a:solidFill>
                  <a:schemeClr val="tx1"/>
                </a:solidFill>
                <a:latin typeface="Bookman Old Style" panose="02050604050505020204" pitchFamily="18" charset="0"/>
              </a:rPr>
              <a:t> 1 </a:t>
            </a:r>
            <a:r>
              <a:rPr lang="mr-IN" b="1" dirty="0">
                <a:solidFill>
                  <a:schemeClr val="tx1"/>
                </a:solidFill>
                <a:latin typeface="Bookman Old Style" panose="02050604050505020204" pitchFamily="18" charset="0"/>
              </a:rPr>
              <a:t>]</a:t>
            </a:r>
          </a:p>
          <a:p>
            <a:pPr algn="l"/>
            <a:r>
              <a:rPr lang="mr-IN" b="1" dirty="0">
                <a:solidFill>
                  <a:srgbClr val="0070C0"/>
                </a:solidFill>
                <a:latin typeface="Bookman Old Style" panose="02050604050505020204" pitchFamily="18" charset="0"/>
              </a:rPr>
              <a:t>     </a:t>
            </a:r>
            <a:r>
              <a:rPr lang="en-US" b="1" dirty="0">
                <a:solidFill>
                  <a:srgbClr val="0070C0"/>
                </a:solidFill>
                <a:latin typeface="Bookman Old Style" panose="02050604050505020204" pitchFamily="18" charset="0"/>
              </a:rPr>
              <a:t>         </a:t>
            </a:r>
          </a:p>
          <a:p>
            <a:pPr algn="l"/>
            <a:r>
              <a:rPr lang="en-US" b="1" dirty="0">
                <a:solidFill>
                  <a:srgbClr val="0070C0"/>
                </a:solidFill>
                <a:latin typeface="Bookman Old Style" panose="02050604050505020204" pitchFamily="18" charset="0"/>
              </a:rPr>
              <a:t>                           </a:t>
            </a:r>
            <a:r>
              <a:rPr lang="mr-IN" b="1" dirty="0">
                <a:solidFill>
                  <a:schemeClr val="tx1"/>
                </a:solidFill>
                <a:latin typeface="Bookman Old Style" panose="02050604050505020204" pitchFamily="18" charset="0"/>
              </a:rPr>
              <a:t>Title</a:t>
            </a:r>
            <a:r>
              <a:rPr lang="en-US" b="1" dirty="0">
                <a:solidFill>
                  <a:schemeClr val="tx1"/>
                </a:solidFill>
                <a:latin typeface="Bookman Old Style" panose="02050604050505020204" pitchFamily="18" charset="0"/>
              </a:rPr>
              <a:t> of Presentation </a:t>
            </a:r>
            <a:r>
              <a:rPr lang="mr-IN" b="1" dirty="0">
                <a:solidFill>
                  <a:schemeClr val="tx1"/>
                </a:solidFill>
                <a:latin typeface="Bookman Old Style" panose="02050604050505020204" pitchFamily="18" charset="0"/>
              </a:rPr>
              <a:t>:</a:t>
            </a:r>
            <a:r>
              <a:rPr lang="en-US" b="1" dirty="0">
                <a:solidFill>
                  <a:schemeClr val="tx1"/>
                </a:solidFill>
                <a:latin typeface="Bookman Old Style" panose="02050604050505020204" pitchFamily="18" charset="0"/>
              </a:rPr>
              <a:t> </a:t>
            </a:r>
            <a:r>
              <a:rPr lang="en-US" b="1" dirty="0">
                <a:solidFill>
                  <a:schemeClr val="tx1"/>
                </a:solidFill>
                <a:latin typeface="Times New Roman" panose="02020603050405020304" pitchFamily="18" charset="0"/>
                <a:cs typeface="Times New Roman" panose="02020603050405020304" pitchFamily="18" charset="0"/>
              </a:rPr>
              <a:t>Facial </a:t>
            </a:r>
            <a:r>
              <a:rPr lang="en-US" b="1" dirty="0">
                <a:solidFill>
                  <a:schemeClr val="tx1">
                    <a:lumMod val="95000"/>
                    <a:lumOff val="5000"/>
                  </a:schemeClr>
                </a:solidFill>
                <a:latin typeface="Times New Roman" panose="02020603050405020304" pitchFamily="18" charset="0"/>
                <a:cs typeface="Times New Roman" panose="02020603050405020304" pitchFamily="18" charset="0"/>
              </a:rPr>
              <a:t>Expression  recognition  </a:t>
            </a:r>
            <a:r>
              <a:rPr lang="en-US" b="1" dirty="0">
                <a:solidFill>
                  <a:schemeClr val="tx1"/>
                </a:solidFill>
                <a:latin typeface="Times New Roman" panose="02020603050405020304" pitchFamily="18" charset="0"/>
                <a:cs typeface="Times New Roman" panose="02020603050405020304" pitchFamily="18" charset="0"/>
              </a:rPr>
              <a:t>using Machine Learning </a:t>
            </a:r>
          </a:p>
          <a:p>
            <a:pPr algn="l"/>
            <a:endParaRPr lang="mr-IN" b="1" dirty="0">
              <a:solidFill>
                <a:schemeClr val="tx1"/>
              </a:solidFill>
              <a:latin typeface="Times New Roman" panose="02020603050405020304" pitchFamily="18" charset="0"/>
            </a:endParaRPr>
          </a:p>
          <a:p>
            <a:pPr algn="l"/>
            <a:endParaRPr lang="mr-IN" sz="1800" b="1" dirty="0">
              <a:latin typeface="Bookman Old Style" panose="02050604050505020204" pitchFamily="18" charset="0"/>
            </a:endParaRPr>
          </a:p>
          <a:p>
            <a:pPr algn="l"/>
            <a:endParaRPr lang="en-US" sz="1900" b="1" dirty="0">
              <a:latin typeface="Bookman Old Style" panose="02050604050505020204" pitchFamily="18" charset="0"/>
            </a:endParaRP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85008" y="0"/>
            <a:ext cx="1397700" cy="1428352"/>
          </a:xfrm>
          <a:prstGeom prst="rect">
            <a:avLst/>
          </a:prstGeom>
          <a:noFill/>
          <a:ln>
            <a:noFill/>
          </a:ln>
        </p:spPr>
      </p:pic>
      <p:graphicFrame>
        <p:nvGraphicFramePr>
          <p:cNvPr id="6" name="Table 5"/>
          <p:cNvGraphicFramePr>
            <a:graphicFrameLocks noGrp="1"/>
          </p:cNvGraphicFramePr>
          <p:nvPr>
            <p:extLst>
              <p:ext uri="{D42A27DB-BD31-4B8C-83A1-F6EECF244321}">
                <p14:modId xmlns:p14="http://schemas.microsoft.com/office/powerpoint/2010/main" val="2198426517"/>
              </p:ext>
            </p:extLst>
          </p:nvPr>
        </p:nvGraphicFramePr>
        <p:xfrm>
          <a:off x="1387091" y="4750763"/>
          <a:ext cx="10156991" cy="1781299"/>
        </p:xfrm>
        <a:graphic>
          <a:graphicData uri="http://schemas.openxmlformats.org/drawingml/2006/table">
            <a:tbl>
              <a:tblPr firstRow="1" bandRow="1">
                <a:tableStyleId>{5C22544A-7EE6-4342-B048-85BDC9FD1C3A}</a:tableStyleId>
              </a:tblPr>
              <a:tblGrid>
                <a:gridCol w="4722360">
                  <a:extLst>
                    <a:ext uri="{9D8B030D-6E8A-4147-A177-3AD203B41FA5}">
                      <a16:colId xmlns:a16="http://schemas.microsoft.com/office/drawing/2014/main" val="20000"/>
                    </a:ext>
                  </a:extLst>
                </a:gridCol>
                <a:gridCol w="5434631">
                  <a:extLst>
                    <a:ext uri="{9D8B030D-6E8A-4147-A177-3AD203B41FA5}">
                      <a16:colId xmlns:a16="http://schemas.microsoft.com/office/drawing/2014/main" val="20001"/>
                    </a:ext>
                  </a:extLst>
                </a:gridCol>
              </a:tblGrid>
              <a:tr h="7188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mr-IN" sz="1800" b="1" dirty="0">
                          <a:latin typeface="Bookman Old Style" panose="02050604050505020204" pitchFamily="18" charset="0"/>
                        </a:rPr>
                        <a:t>Name of Guide: </a:t>
                      </a:r>
                    </a:p>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mr-IN" sz="1800" dirty="0">
                          <a:latin typeface="Bookman Old Style" panose="02050604050505020204" pitchFamily="18" charset="0"/>
                        </a:rPr>
                        <a:t>Student Name [Reg.No.]</a:t>
                      </a:r>
                      <a:endParaRPr lang="en-US" dirty="0"/>
                    </a:p>
                  </a:txBody>
                  <a:tcPr/>
                </a:tc>
                <a:extLst>
                  <a:ext uri="{0D108BD9-81ED-4DB2-BD59-A6C34878D82A}">
                    <a16:rowId xmlns:a16="http://schemas.microsoft.com/office/drawing/2014/main" val="10000"/>
                  </a:ext>
                </a:extLst>
              </a:tr>
              <a:tr h="1062482">
                <a:tc>
                  <a:txBody>
                    <a:bodyPr/>
                    <a:lstStyle/>
                    <a:p>
                      <a:r>
                        <a:rPr lang="en-US" sz="2000" b="1" dirty="0"/>
                        <a:t>Prof</a:t>
                      </a:r>
                      <a:r>
                        <a:rPr lang="en-US" sz="2000" b="1" baseline="0" dirty="0"/>
                        <a:t> K.R.Pawar</a:t>
                      </a:r>
                      <a:endParaRPr lang="en-US" sz="2000" b="1" dirty="0"/>
                    </a:p>
                  </a:txBody>
                  <a:tcPr/>
                </a:tc>
                <a:tc>
                  <a:txBody>
                    <a:bodyPr/>
                    <a:lstStyle/>
                    <a:p>
                      <a:r>
                        <a:rPr lang="en-US" dirty="0"/>
                        <a:t> </a:t>
                      </a:r>
                      <a:r>
                        <a:rPr lang="en-US" b="1" dirty="0"/>
                        <a:t>1)</a:t>
                      </a:r>
                      <a:r>
                        <a:rPr lang="en-US" b="1" baseline="0" dirty="0"/>
                        <a:t> </a:t>
                      </a:r>
                      <a:r>
                        <a:rPr lang="en-US" b="1" baseline="0" dirty="0" err="1"/>
                        <a:t>Shreya.G.Khadke</a:t>
                      </a:r>
                      <a:r>
                        <a:rPr lang="en-US" b="1" baseline="0" dirty="0"/>
                        <a:t>         [23143182]</a:t>
                      </a:r>
                    </a:p>
                    <a:p>
                      <a:r>
                        <a:rPr lang="en-US" b="1" baseline="0" dirty="0"/>
                        <a:t> 2) </a:t>
                      </a:r>
                      <a:r>
                        <a:rPr lang="en-US" b="1" baseline="0" dirty="0" err="1"/>
                        <a:t>Vidya.V.Waghavkar</a:t>
                      </a:r>
                      <a:r>
                        <a:rPr lang="en-US" b="1" baseline="0" dirty="0"/>
                        <a:t>     [23143180]</a:t>
                      </a:r>
                    </a:p>
                    <a:p>
                      <a:r>
                        <a:rPr lang="en-US" b="1" baseline="0" dirty="0"/>
                        <a:t> 3) </a:t>
                      </a:r>
                      <a:r>
                        <a:rPr lang="en-US" b="1" baseline="0" dirty="0" err="1"/>
                        <a:t>Vaishnavi.S.Bhandari</a:t>
                      </a:r>
                      <a:r>
                        <a:rPr lang="en-US" b="1" baseline="0" dirty="0"/>
                        <a:t>   [23143181]</a:t>
                      </a:r>
                      <a:endParaRPr lang="en-US" b="1"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11203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79510694"/>
              </p:ext>
            </p:extLst>
          </p:nvPr>
        </p:nvGraphicFramePr>
        <p:xfrm>
          <a:off x="3420094" y="1710047"/>
          <a:ext cx="7398328" cy="4353597"/>
        </p:xfrm>
        <a:graphic>
          <a:graphicData uri="http://schemas.openxmlformats.org/drawingml/2006/table">
            <a:tbl>
              <a:tblPr/>
              <a:tblGrid>
                <a:gridCol w="1246909">
                  <a:extLst>
                    <a:ext uri="{9D8B030D-6E8A-4147-A177-3AD203B41FA5}">
                      <a16:colId xmlns:a16="http://schemas.microsoft.com/office/drawing/2014/main" val="20000"/>
                    </a:ext>
                  </a:extLst>
                </a:gridCol>
                <a:gridCol w="4702629">
                  <a:extLst>
                    <a:ext uri="{9D8B030D-6E8A-4147-A177-3AD203B41FA5}">
                      <a16:colId xmlns:a16="http://schemas.microsoft.com/office/drawing/2014/main" val="20001"/>
                    </a:ext>
                  </a:extLst>
                </a:gridCol>
                <a:gridCol w="1448790">
                  <a:extLst>
                    <a:ext uri="{9D8B030D-6E8A-4147-A177-3AD203B41FA5}">
                      <a16:colId xmlns:a16="http://schemas.microsoft.com/office/drawing/2014/main" val="20002"/>
                    </a:ext>
                  </a:extLst>
                </a:gridCol>
              </a:tblGrid>
              <a:tr h="748144">
                <a:tc>
                  <a:txBody>
                    <a:bodyPr/>
                    <a:lstStyle/>
                    <a:p>
                      <a:r>
                        <a:rPr lang="en-US" sz="2000" b="1" dirty="0">
                          <a:latin typeface="Times New Roman" panose="02020603050405020304" pitchFamily="18" charset="0"/>
                          <a:cs typeface="Times New Roman" panose="02020603050405020304" pitchFamily="18" charset="0"/>
                        </a:rPr>
                        <a:t>SR No.</a:t>
                      </a:r>
                      <a:endParaRPr lang="en-US" sz="2000" dirty="0">
                        <a:latin typeface="Times New Roman" panose="02020603050405020304" pitchFamily="18" charset="0"/>
                        <a:cs typeface="Times New Roman" panose="02020603050405020304" pitchFamily="18" charset="0"/>
                      </a:endParaRP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Times New Roman" panose="02020603050405020304" pitchFamily="18" charset="0"/>
                          <a:cs typeface="Times New Roman" panose="02020603050405020304" pitchFamily="18" charset="0"/>
                        </a:rPr>
                        <a:t>Chapter Title</a:t>
                      </a:r>
                      <a:endParaRPr lang="en-US" sz="2000" dirty="0">
                        <a:latin typeface="Times New Roman" panose="02020603050405020304" pitchFamily="18" charset="0"/>
                        <a:cs typeface="Times New Roman" panose="02020603050405020304" pitchFamily="18" charset="0"/>
                      </a:endParaRP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latin typeface="Times New Roman" panose="02020603050405020304" pitchFamily="18" charset="0"/>
                          <a:cs typeface="Times New Roman" panose="02020603050405020304" pitchFamily="18" charset="0"/>
                        </a:rPr>
                        <a:t>Page No.</a:t>
                      </a:r>
                      <a:endParaRPr lang="en-US" sz="2000" dirty="0">
                        <a:latin typeface="Times New Roman" panose="02020603050405020304" pitchFamily="18" charset="0"/>
                        <a:cs typeface="Times New Roman" panose="02020603050405020304" pitchFamily="18" charset="0"/>
                      </a:endParaRP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65019">
                <a:tc>
                  <a:txBody>
                    <a:bodyPr/>
                    <a:lstStyle/>
                    <a:p>
                      <a:pPr algn="just"/>
                      <a:r>
                        <a:rPr lang="en-US" sz="1800" dirty="0">
                          <a:latin typeface="Times New Roman" panose="02020603050405020304" pitchFamily="18" charset="0"/>
                          <a:cs typeface="Times New Roman" panose="02020603050405020304" pitchFamily="18" charset="0"/>
                        </a:rPr>
                        <a:t>  1</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800" dirty="0">
                        <a:latin typeface="Times New Roman" panose="02020603050405020304" pitchFamily="18" charset="0"/>
                        <a:cs typeface="Times New Roman" panose="02020603050405020304" pitchFamily="18"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Introduction </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01 to 02 </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9396">
                <a:tc>
                  <a:txBody>
                    <a:bodyPr/>
                    <a:lstStyle/>
                    <a:p>
                      <a:pPr algn="just"/>
                      <a:r>
                        <a:rPr lang="en-US" sz="1800" dirty="0">
                          <a:latin typeface="Times New Roman" panose="02020603050405020304" pitchFamily="18" charset="0"/>
                          <a:cs typeface="Times New Roman" panose="02020603050405020304" pitchFamily="18" charset="0"/>
                        </a:rPr>
                        <a:t>  2</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Literature Survey</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03 to 0</a:t>
                      </a:r>
                      <a:r>
                        <a:rPr lang="en-US" sz="1800" baseline="0" dirty="0">
                          <a:latin typeface="Times New Roman" panose="02020603050405020304" pitchFamily="18" charset="0"/>
                          <a:cs typeface="Times New Roman" panose="02020603050405020304" pitchFamily="18" charset="0"/>
                        </a:rPr>
                        <a:t>4</a:t>
                      </a:r>
                      <a:endParaRPr lang="en-US" sz="1800" dirty="0">
                        <a:latin typeface="Times New Roman" panose="02020603050405020304" pitchFamily="18" charset="0"/>
                        <a:cs typeface="Times New Roman" panose="02020603050405020304" pitchFamily="18" charset="0"/>
                      </a:endParaRP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09396">
                <a:tc>
                  <a:txBody>
                    <a:bodyPr/>
                    <a:lstStyle/>
                    <a:p>
                      <a:pPr algn="just"/>
                      <a:r>
                        <a:rPr lang="en-US" sz="1800" dirty="0">
                          <a:latin typeface="Times New Roman" panose="02020603050405020304" pitchFamily="18" charset="0"/>
                          <a:cs typeface="Times New Roman" panose="02020603050405020304" pitchFamily="18" charset="0"/>
                        </a:rPr>
                        <a:t>  3</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Dataset</a:t>
                      </a:r>
                      <a:r>
                        <a:rPr lang="en-US" sz="1800" baseline="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Case Study</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05 to 07</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16442">
                <a:tc>
                  <a:txBody>
                    <a:bodyPr/>
                    <a:lstStyle/>
                    <a:p>
                      <a:pPr algn="just"/>
                      <a:r>
                        <a:rPr lang="en-US" sz="1800" dirty="0">
                          <a:latin typeface="Times New Roman" panose="02020603050405020304" pitchFamily="18" charset="0"/>
                          <a:cs typeface="Times New Roman" panose="02020603050405020304" pitchFamily="18" charset="0"/>
                        </a:rPr>
                        <a:t>  4</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Implementation</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08 to 09 </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93918">
                <a:tc>
                  <a:txBody>
                    <a:bodyPr/>
                    <a:lstStyle/>
                    <a:p>
                      <a:pPr algn="just"/>
                      <a:r>
                        <a:rPr lang="en-US" sz="1800" dirty="0">
                          <a:latin typeface="Times New Roman" panose="02020603050405020304" pitchFamily="18" charset="0"/>
                          <a:cs typeface="Times New Roman" panose="02020603050405020304" pitchFamily="18" charset="0"/>
                        </a:rPr>
                        <a:t>  5</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Designing Objectives </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…….10</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09396">
                <a:tc>
                  <a:txBody>
                    <a:bodyPr/>
                    <a:lstStyle/>
                    <a:p>
                      <a:pPr algn="just"/>
                      <a:r>
                        <a:rPr lang="en-US" sz="1800" dirty="0">
                          <a:latin typeface="Times New Roman" panose="02020603050405020304" pitchFamily="18" charset="0"/>
                          <a:cs typeface="Times New Roman" panose="02020603050405020304" pitchFamily="18" charset="0"/>
                        </a:rPr>
                        <a:t>  6</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Conclusion</a:t>
                      </a:r>
                    </a:p>
                    <a:p>
                      <a:pPr marL="0" marR="0" indent="0" algn="l" defTabSz="4572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References</a:t>
                      </a:r>
                    </a:p>
                    <a:p>
                      <a:endParaRPr lang="en-US" sz="1800" dirty="0">
                        <a:latin typeface="Times New Roman" panose="02020603050405020304" pitchFamily="18" charset="0"/>
                        <a:cs typeface="Times New Roman" panose="02020603050405020304" pitchFamily="18" charset="0"/>
                      </a:endParaRP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11to 12 </a:t>
                      </a:r>
                    </a:p>
                  </a:txBody>
                  <a:tcPr marL="88323" marR="88323" marT="44161" marB="4416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TextBox 2"/>
          <p:cNvSpPr txBox="1"/>
          <p:nvPr/>
        </p:nvSpPr>
        <p:spPr>
          <a:xfrm>
            <a:off x="997527" y="712519"/>
            <a:ext cx="7433953" cy="461665"/>
          </a:xfrm>
          <a:prstGeom prst="rect">
            <a:avLst/>
          </a:prstGeom>
          <a:noFill/>
        </p:spPr>
        <p:txBody>
          <a:bodyPr wrap="square" rtlCol="0">
            <a:spAutoFit/>
          </a:bodyPr>
          <a:lstStyle/>
          <a:p>
            <a:r>
              <a:rPr lang="en-US" dirty="0"/>
              <a:t>         </a:t>
            </a:r>
            <a:r>
              <a:rPr lang="en-US" sz="2400" b="1" dirty="0"/>
              <a:t>CONENTS :</a:t>
            </a:r>
          </a:p>
        </p:txBody>
      </p:sp>
    </p:spTree>
    <p:extLst>
      <p:ext uri="{BB962C8B-B14F-4D97-AF65-F5344CB8AC3E}">
        <p14:creationId xmlns:p14="http://schemas.microsoft.com/office/powerpoint/2010/main" val="2759970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2519" y="0"/>
            <a:ext cx="10889674" cy="6771084"/>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                                                                   1 Information </a:t>
            </a:r>
          </a:p>
          <a:p>
            <a:endParaRPr lang="en-US"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Facial expression recognition using machine learning is a process where the goal is to automatically detect and classify human emotions based on facial images. In this case, we use a machine learning pipeline that processes images to identify different emotions, such as </a:t>
            </a:r>
            <a:r>
              <a:rPr lang="en-US" b="1" dirty="0">
                <a:latin typeface="Times New Roman" panose="02020603050405020304" pitchFamily="18" charset="0"/>
                <a:cs typeface="Times New Roman" panose="02020603050405020304" pitchFamily="18" charset="0"/>
              </a:rPr>
              <a:t>anger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disgust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fear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happiness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neutral</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sadness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surprise</a:t>
            </a:r>
            <a:r>
              <a:rPr lang="en-US" dirty="0">
                <a:latin typeface="Times New Roman" panose="02020603050405020304" pitchFamily="18" charset="0"/>
                <a:cs typeface="Times New Roman" panose="02020603050405020304" pitchFamily="18" charset="0"/>
              </a:rPr>
              <a:t>. The key steps involved are:</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buFont typeface="+mj-lt"/>
              <a:buAutoNum type="arabicPeriod"/>
            </a:pPr>
            <a:r>
              <a:rPr lang="en-US" b="1" dirty="0">
                <a:latin typeface="Times New Roman" panose="02020603050405020304" pitchFamily="18" charset="0"/>
                <a:cs typeface="Times New Roman" panose="02020603050405020304" pitchFamily="18" charset="0"/>
              </a:rPr>
              <a:t>Image Preprocessing</a:t>
            </a:r>
            <a:r>
              <a:rPr lang="en-US" dirty="0">
                <a:latin typeface="Times New Roman" panose="02020603050405020304" pitchFamily="18" charset="0"/>
                <a:cs typeface="Times New Roman" panose="02020603050405020304" pitchFamily="18" charset="0"/>
              </a:rPr>
              <a:t>: Facial images are preprocessed to make them easier for the machine learning model to understand. This usually involves:</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Converting the images into grayscale (black-and-white images) to focus on the structure and features of the face.</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Resizing images to a standard size (48x48 pixels) to reduce computational load and ensure uniform input to the model.</a:t>
            </a:r>
          </a:p>
          <a:p>
            <a:pPr lvl="1" algn="just"/>
            <a:endParaRPr lang="en-US" dirty="0">
              <a:latin typeface="Times New Roman" panose="02020603050405020304" pitchFamily="18" charset="0"/>
              <a:cs typeface="Times New Roman" panose="02020603050405020304" pitchFamily="18" charset="0"/>
            </a:endParaRPr>
          </a:p>
          <a:p>
            <a:pPr algn="just">
              <a:buFont typeface="+mj-lt"/>
              <a:buAutoNum type="arabicPeriod"/>
            </a:pPr>
            <a:r>
              <a:rPr lang="en-US" b="1" dirty="0">
                <a:latin typeface="Times New Roman" panose="02020603050405020304" pitchFamily="18" charset="0"/>
                <a:cs typeface="Times New Roman" panose="02020603050405020304" pitchFamily="18" charset="0"/>
              </a:rPr>
              <a:t>Feature Extraction</a:t>
            </a:r>
            <a:r>
              <a:rPr lang="en-US" dirty="0">
                <a:latin typeface="Times New Roman" panose="02020603050405020304" pitchFamily="18" charset="0"/>
                <a:cs typeface="Times New Roman" panose="02020603050405020304" pitchFamily="18" charset="0"/>
              </a:rPr>
              <a:t>: After resizing the images, the pixels (i.e., the grayscale values of each image) are flattened into a one-dimensional array. These flattened images (with each image represented as a list of numbers) are then used as the input for the machine learning model</a:t>
            </a:r>
          </a:p>
          <a:p>
            <a:pPr algn="just">
              <a:buFont typeface="+mj-lt"/>
              <a:buAutoNum type="arabicPeriod"/>
            </a:pPr>
            <a:endParaRPr lang="en-US" dirty="0">
              <a:latin typeface="Times New Roman" panose="02020603050405020304" pitchFamily="18" charset="0"/>
              <a:cs typeface="Times New Roman" panose="02020603050405020304" pitchFamily="18" charset="0"/>
            </a:endParaRPr>
          </a:p>
          <a:p>
            <a:pPr algn="just">
              <a:buFont typeface="+mj-lt"/>
              <a:buAutoNum type="arabicPeriod"/>
            </a:pPr>
            <a:r>
              <a:rPr lang="en-US" b="1" dirty="0">
                <a:latin typeface="Times New Roman" panose="02020603050405020304" pitchFamily="18" charset="0"/>
                <a:cs typeface="Times New Roman" panose="02020603050405020304" pitchFamily="18" charset="0"/>
              </a:rPr>
              <a:t>Labeling Data</a:t>
            </a:r>
            <a:r>
              <a:rPr lang="en-US" dirty="0">
                <a:latin typeface="Times New Roman" panose="02020603050405020304" pitchFamily="18" charset="0"/>
                <a:cs typeface="Times New Roman" panose="02020603050405020304" pitchFamily="18" charset="0"/>
              </a:rPr>
              <a:t>: The images are labeled with specific emotions (like "happy", "angry", etc.). The model learns to associate certain patterns in the pixel values with specific emotions.</a:t>
            </a:r>
          </a:p>
          <a:p>
            <a:pPr>
              <a:buFont typeface="+mj-lt"/>
              <a:buAutoNum type="arabicPeriod"/>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1204448" y="6550223"/>
            <a:ext cx="2231136"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              1</a:t>
            </a:r>
          </a:p>
        </p:txBody>
      </p:sp>
    </p:spTree>
    <p:extLst>
      <p:ext uri="{BB962C8B-B14F-4D97-AF65-F5344CB8AC3E}">
        <p14:creationId xmlns:p14="http://schemas.microsoft.com/office/powerpoint/2010/main" val="3495855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658586" y="1289043"/>
            <a:ext cx="1003860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Training a Model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machine learning model is trained using the labeled images. In this case, a Support Vector Classifier (SVC) is used to create a model that can classify emotions based on the image data.</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Model Evaluation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trained model is then tested on unseen data (test dataset) to check how well it can predict emotions in new facial images. Metrics like accuracy and classification report are used to evaluate the model's performance.</a:t>
            </a:r>
          </a:p>
        </p:txBody>
      </p:sp>
      <p:sp>
        <p:nvSpPr>
          <p:cNvPr id="2" name="Rectangle 1"/>
          <p:cNvSpPr/>
          <p:nvPr/>
        </p:nvSpPr>
        <p:spPr>
          <a:xfrm>
            <a:off x="11823621" y="6550223"/>
            <a:ext cx="274434" cy="307777"/>
          </a:xfrm>
          <a:prstGeom prst="rect">
            <a:avLst/>
          </a:prstGeom>
        </p:spPr>
        <p:txBody>
          <a:bodyPr wrap="none">
            <a:spAutoFit/>
          </a:bodyPr>
          <a:lstStyle/>
          <a:p>
            <a:r>
              <a:rPr lang="en-US" sz="1400"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2728424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83438889"/>
              </p:ext>
            </p:extLst>
          </p:nvPr>
        </p:nvGraphicFramePr>
        <p:xfrm>
          <a:off x="355630" y="717747"/>
          <a:ext cx="11568146" cy="5682506"/>
        </p:xfrm>
        <a:graphic>
          <a:graphicData uri="http://schemas.openxmlformats.org/drawingml/2006/table">
            <a:tbl>
              <a:tblPr>
                <a:tableStyleId>{5C22544A-7EE6-4342-B048-85BDC9FD1C3A}</a:tableStyleId>
              </a:tblPr>
              <a:tblGrid>
                <a:gridCol w="1897416">
                  <a:extLst>
                    <a:ext uri="{9D8B030D-6E8A-4147-A177-3AD203B41FA5}">
                      <a16:colId xmlns:a16="http://schemas.microsoft.com/office/drawing/2014/main" val="20000"/>
                    </a:ext>
                  </a:extLst>
                </a:gridCol>
                <a:gridCol w="1934146">
                  <a:extLst>
                    <a:ext uri="{9D8B030D-6E8A-4147-A177-3AD203B41FA5}">
                      <a16:colId xmlns:a16="http://schemas.microsoft.com/office/drawing/2014/main" val="20001"/>
                    </a:ext>
                  </a:extLst>
                </a:gridCol>
                <a:gridCol w="1934146">
                  <a:extLst>
                    <a:ext uri="{9D8B030D-6E8A-4147-A177-3AD203B41FA5}">
                      <a16:colId xmlns:a16="http://schemas.microsoft.com/office/drawing/2014/main" val="20002"/>
                    </a:ext>
                  </a:extLst>
                </a:gridCol>
                <a:gridCol w="1934146">
                  <a:extLst>
                    <a:ext uri="{9D8B030D-6E8A-4147-A177-3AD203B41FA5}">
                      <a16:colId xmlns:a16="http://schemas.microsoft.com/office/drawing/2014/main" val="20003"/>
                    </a:ext>
                  </a:extLst>
                </a:gridCol>
                <a:gridCol w="1934146">
                  <a:extLst>
                    <a:ext uri="{9D8B030D-6E8A-4147-A177-3AD203B41FA5}">
                      <a16:colId xmlns:a16="http://schemas.microsoft.com/office/drawing/2014/main" val="20004"/>
                    </a:ext>
                  </a:extLst>
                </a:gridCol>
                <a:gridCol w="1934146">
                  <a:extLst>
                    <a:ext uri="{9D8B030D-6E8A-4147-A177-3AD203B41FA5}">
                      <a16:colId xmlns:a16="http://schemas.microsoft.com/office/drawing/2014/main" val="20005"/>
                    </a:ext>
                  </a:extLst>
                </a:gridCol>
              </a:tblGrid>
              <a:tr h="470242">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Ref. No.</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Methodology</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Dataset</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Advantages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Results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Research Gap</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729476">
                <a:tc>
                  <a:txBody>
                    <a:bodyPr/>
                    <a:lstStyle/>
                    <a:p>
                      <a:pPr marL="0" marR="0">
                        <a:lnSpc>
                          <a:spcPct val="107000"/>
                        </a:lnSpc>
                        <a:spcBef>
                          <a:spcPts val="0"/>
                        </a:spcBef>
                        <a:spcAft>
                          <a:spcPts val="800"/>
                        </a:spcAft>
                      </a:pPr>
                      <a:r>
                        <a:rPr lang="en-US" sz="1800" dirty="0">
                          <a:latin typeface="Times New Roman" panose="02020603050405020304" pitchFamily="18" charset="0"/>
                          <a:cs typeface="Times New Roman" panose="02020603050405020304" pitchFamily="18" charset="0"/>
                        </a:rPr>
                        <a:t>[1] (Mollahosseini et al., 2016)</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PCA for reducing image size, Gabor filters + LBP for features, SVM for classifying emotions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JAFFE, CK, MMI</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Simple and accurate, uses combination of features, works across datasets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Accuracy above 90% on some datasets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May not work well in real-time; limited to specific datasets; doesn’t handle live video input</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29476">
                <a:tc>
                  <a:txBody>
                    <a:bodyPr/>
                    <a:lstStyle/>
                    <a:p>
                      <a:pPr marL="0" marR="0">
                        <a:lnSpc>
                          <a:spcPct val="107000"/>
                        </a:lnSpc>
                        <a:spcBef>
                          <a:spcPts val="0"/>
                        </a:spcBef>
                        <a:spcAft>
                          <a:spcPts val="800"/>
                        </a:spcAft>
                      </a:pPr>
                      <a:r>
                        <a:rPr lang="da-DK" sz="1800" dirty="0">
                          <a:latin typeface="Times New Roman" panose="02020603050405020304" pitchFamily="18" charset="0"/>
                          <a:cs typeface="Times New Roman" panose="02020603050405020304" pitchFamily="18" charset="0"/>
                        </a:rPr>
                        <a:t>[2] (Lucey et al., 2010)</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Deep CNN model, image augmentation, trained on labeled data</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FER2013, custom real-time data</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Real-time prediction possible, works on mobile devices, handles variations in face and light</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75.8% accuracy on FER2013</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High resource usage; struggles in very low light or unusual face angles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29476">
                <a:tc>
                  <a:txBody>
                    <a:bodyPr/>
                    <a:lstStyle/>
                    <a:p>
                      <a:pPr marL="0" marR="0">
                        <a:lnSpc>
                          <a:spcPct val="107000"/>
                        </a:lnSpc>
                        <a:spcBef>
                          <a:spcPts val="0"/>
                        </a:spcBef>
                        <a:spcAft>
                          <a:spcPts val="800"/>
                        </a:spcAft>
                      </a:pPr>
                      <a:r>
                        <a:rPr lang="en-US" sz="1800" dirty="0">
                          <a:latin typeface="Times New Roman" panose="02020603050405020304" pitchFamily="18" charset="0"/>
                          <a:cs typeface="Times New Roman" panose="02020603050405020304" pitchFamily="18" charset="0"/>
                        </a:rPr>
                        <a:t>[3] (Goodfellow et al., 2013)</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Survey of deep learning models like CNN, RNN, GANs; analysis of training tricks and model designs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Covers FER2013, AffectNet, CK+, JAFFE</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Overview of many models and ideas; good starting point for researchers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Summarizes performance of many models</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Lacks a unified standard model; no solution for real-world noise and facial occlusion</a:t>
                      </a:r>
                      <a:endParaRPr lang="en-US" sz="105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700" marR="11700" marT="6039" marB="60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3" name="TextBox 2"/>
          <p:cNvSpPr txBox="1"/>
          <p:nvPr/>
        </p:nvSpPr>
        <p:spPr>
          <a:xfrm>
            <a:off x="3040083" y="0"/>
            <a:ext cx="6008915" cy="400110"/>
          </a:xfrm>
          <a:prstGeom prst="rect">
            <a:avLst/>
          </a:prstGeom>
          <a:noFill/>
        </p:spPr>
        <p:txBody>
          <a:bodyPr wrap="square" rtlCol="0">
            <a:spAutoFit/>
          </a:bodyPr>
          <a:lstStyle/>
          <a:p>
            <a:pPr fontAlgn="ctr"/>
            <a:r>
              <a:rPr lang="en-US" sz="2000" b="1" dirty="0">
                <a:latin typeface="Times New Roman" panose="02020603050405020304" pitchFamily="18" charset="0"/>
                <a:cs typeface="Times New Roman" panose="02020603050405020304" pitchFamily="18" charset="0"/>
              </a:rPr>
              <a:t>                          2   Literature Survey</a:t>
            </a:r>
          </a:p>
        </p:txBody>
      </p:sp>
      <p:sp>
        <p:nvSpPr>
          <p:cNvPr id="4" name="Rectangle 3"/>
          <p:cNvSpPr/>
          <p:nvPr/>
        </p:nvSpPr>
        <p:spPr>
          <a:xfrm>
            <a:off x="11891918" y="6488668"/>
            <a:ext cx="3000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4108445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28043117"/>
              </p:ext>
            </p:extLst>
          </p:nvPr>
        </p:nvGraphicFramePr>
        <p:xfrm>
          <a:off x="573315" y="358623"/>
          <a:ext cx="11305308" cy="5957180"/>
        </p:xfrm>
        <a:graphic>
          <a:graphicData uri="http://schemas.openxmlformats.org/drawingml/2006/table">
            <a:tbl>
              <a:tblPr>
                <a:tableStyleId>{5C22544A-7EE6-4342-B048-85BDC9FD1C3A}</a:tableStyleId>
              </a:tblPr>
              <a:tblGrid>
                <a:gridCol w="1884218">
                  <a:extLst>
                    <a:ext uri="{9D8B030D-6E8A-4147-A177-3AD203B41FA5}">
                      <a16:colId xmlns:a16="http://schemas.microsoft.com/office/drawing/2014/main" val="20000"/>
                    </a:ext>
                  </a:extLst>
                </a:gridCol>
                <a:gridCol w="1884218">
                  <a:extLst>
                    <a:ext uri="{9D8B030D-6E8A-4147-A177-3AD203B41FA5}">
                      <a16:colId xmlns:a16="http://schemas.microsoft.com/office/drawing/2014/main" val="20001"/>
                    </a:ext>
                  </a:extLst>
                </a:gridCol>
                <a:gridCol w="1884218">
                  <a:extLst>
                    <a:ext uri="{9D8B030D-6E8A-4147-A177-3AD203B41FA5}">
                      <a16:colId xmlns:a16="http://schemas.microsoft.com/office/drawing/2014/main" val="20002"/>
                    </a:ext>
                  </a:extLst>
                </a:gridCol>
                <a:gridCol w="1884218">
                  <a:extLst>
                    <a:ext uri="{9D8B030D-6E8A-4147-A177-3AD203B41FA5}">
                      <a16:colId xmlns:a16="http://schemas.microsoft.com/office/drawing/2014/main" val="20003"/>
                    </a:ext>
                  </a:extLst>
                </a:gridCol>
                <a:gridCol w="1884218">
                  <a:extLst>
                    <a:ext uri="{9D8B030D-6E8A-4147-A177-3AD203B41FA5}">
                      <a16:colId xmlns:a16="http://schemas.microsoft.com/office/drawing/2014/main" val="20004"/>
                    </a:ext>
                  </a:extLst>
                </a:gridCol>
                <a:gridCol w="1884218">
                  <a:extLst>
                    <a:ext uri="{9D8B030D-6E8A-4147-A177-3AD203B41FA5}">
                      <a16:colId xmlns:a16="http://schemas.microsoft.com/office/drawing/2014/main" val="20005"/>
                    </a:ext>
                  </a:extLst>
                </a:gridCol>
              </a:tblGrid>
              <a:tr h="1864530">
                <a:tc>
                  <a:txBody>
                    <a:bodyPr/>
                    <a:lstStyle/>
                    <a:p>
                      <a:pPr marL="0" marR="0" indent="0" algn="l" defTabSz="457200" rtl="0" eaLnBrk="1" fontAlgn="auto" latinLnBrk="0" hangingPunct="1">
                        <a:lnSpc>
                          <a:spcPct val="107000"/>
                        </a:lnSpc>
                        <a:spcBef>
                          <a:spcPts val="0"/>
                        </a:spcBef>
                        <a:spcAft>
                          <a:spcPts val="800"/>
                        </a:spcAft>
                        <a:buClrTx/>
                        <a:buSzTx/>
                        <a:buFontTx/>
                        <a:buNone/>
                        <a:tabLst/>
                        <a:defRPr/>
                      </a:pPr>
                      <a:r>
                        <a:rPr lang="da-DK" sz="1800" dirty="0">
                          <a:latin typeface="Times New Roman" panose="02020603050405020304" pitchFamily="18" charset="0"/>
                          <a:cs typeface="Times New Roman" panose="02020603050405020304" pitchFamily="18" charset="0"/>
                        </a:rPr>
                        <a:t>[4] (Zhang et al., 2017)</a:t>
                      </a:r>
                    </a:p>
                    <a:p>
                      <a:pPr marL="0" marR="0">
                        <a:lnSpc>
                          <a:spcPct val="107000"/>
                        </a:lnSpc>
                        <a:spcBef>
                          <a:spcPts val="0"/>
                        </a:spcBef>
                        <a:spcAft>
                          <a:spcPts val="80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Review of deep learning-based FER models; compares performance of CNNs and other networks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FER2013, CK+, JAFFE</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Easy-to-understand comparison; shows trends and challenges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Summarized accuracy levels of top models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No new model; limited performance on real-world unseen data</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597107">
                <a:tc>
                  <a:txBody>
                    <a:bodyPr/>
                    <a:lstStyle/>
                    <a:p>
                      <a:pPr marL="0" marR="0" indent="0" algn="l" defTabSz="457200" rtl="0" eaLnBrk="1" fontAlgn="auto" latinLnBrk="0" hangingPunct="1">
                        <a:lnSpc>
                          <a:spcPct val="107000"/>
                        </a:lnSpc>
                        <a:spcBef>
                          <a:spcPts val="0"/>
                        </a:spcBef>
                        <a:spcAft>
                          <a:spcPts val="800"/>
                        </a:spcAft>
                        <a:buClrTx/>
                        <a:buSzTx/>
                        <a:buFontTx/>
                        <a:buNone/>
                        <a:tabLst/>
                        <a:defRPr/>
                      </a:pPr>
                      <a:r>
                        <a:rPr lang="da-DK" sz="1800" dirty="0">
                          <a:latin typeface="Times New Roman" panose="02020603050405020304" pitchFamily="18" charset="0"/>
                          <a:cs typeface="Times New Roman" panose="02020603050405020304" pitchFamily="18" charset="0"/>
                        </a:rPr>
                        <a:t>[5] (Li &amp; Deng, 2020)</a:t>
                      </a:r>
                    </a:p>
                    <a:p>
                      <a:pPr marL="0" marR="0">
                        <a:lnSpc>
                          <a:spcPct val="107000"/>
                        </a:lnSpc>
                        <a:spcBef>
                          <a:spcPts val="0"/>
                        </a:spcBef>
                        <a:spcAft>
                          <a:spcPts val="80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CNN with 6 convolution layers, pooling, and dense layers for 7-emotion classification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FER2013</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Good accuracy, simple CNN structure, focuses on emotion variety</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60% accuracy with tuning</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Not very accurate; struggles with subtle emotions like "neutral" or "disgust"</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131952">
                <a:tc>
                  <a:txBody>
                    <a:bodyPr/>
                    <a:lstStyle/>
                    <a:p>
                      <a:r>
                        <a:rPr lang="da-DK" sz="1800" dirty="0">
                          <a:latin typeface="Times New Roman" panose="02020603050405020304" pitchFamily="18" charset="0"/>
                          <a:cs typeface="Times New Roman" panose="02020603050405020304" pitchFamily="18" charset="0"/>
                        </a:rPr>
                        <a:t>[6] (Barsoum et al., 2016)</a:t>
                      </a:r>
                    </a:p>
                    <a:p>
                      <a:pPr marL="0" marR="0">
                        <a:lnSpc>
                          <a:spcPct val="107000"/>
                        </a:lnSpc>
                        <a:spcBef>
                          <a:spcPts val="0"/>
                        </a:spcBef>
                        <a:spcAft>
                          <a:spcPts val="80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Compares traditional ML algorithms (SVM, KNN, etc.) and extraction techniques (HOG, LBP) for emotion recognition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Various small public datasets (JAFFE, CK+)</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Shows what traditional models can do; lower resource needs than deep learning</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Decent accuracy (less than deep learning)</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1800" dirty="0">
                          <a:effectLst/>
                          <a:latin typeface="Times New Roman" panose="02020603050405020304" pitchFamily="18" charset="0"/>
                          <a:cs typeface="Times New Roman" panose="02020603050405020304" pitchFamily="18" charset="0"/>
                        </a:rPr>
                        <a:t>Lags behind CNNs in accuracy; not suitable for real-time or large image sets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231" marR="11231" marT="5797" marB="5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Rectangle 1"/>
          <p:cNvSpPr>
            <a:spLocks noChangeArrowheads="1"/>
          </p:cNvSpPr>
          <p:nvPr/>
        </p:nvSpPr>
        <p:spPr bwMode="auto">
          <a:xfrm>
            <a:off x="4264025" y="21336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3"/>
          <p:cNvSpPr/>
          <p:nvPr/>
        </p:nvSpPr>
        <p:spPr>
          <a:xfrm>
            <a:off x="11800659" y="6488668"/>
            <a:ext cx="3000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3354602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7569" y="178130"/>
            <a:ext cx="7493330" cy="40011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3 Dataset Case Study</a:t>
            </a:r>
          </a:p>
        </p:txBody>
      </p:sp>
      <p:sp>
        <p:nvSpPr>
          <p:cNvPr id="3" name="TextBox 2"/>
          <p:cNvSpPr txBox="1"/>
          <p:nvPr/>
        </p:nvSpPr>
        <p:spPr>
          <a:xfrm>
            <a:off x="649185" y="866899"/>
            <a:ext cx="11542815" cy="369332"/>
          </a:xfrm>
          <a:prstGeom prst="rect">
            <a:avLst/>
          </a:prstGeom>
          <a:noFill/>
        </p:spPr>
        <p:txBody>
          <a:bodyPr wrap="square" rtlCol="0">
            <a:spAutoFit/>
          </a:bodyPr>
          <a:lstStyle/>
          <a:p>
            <a:endParaRPr lang="en-US" dirty="0"/>
          </a:p>
        </p:txBody>
      </p:sp>
      <p:sp>
        <p:nvSpPr>
          <p:cNvPr id="14" name="Rectangle 13"/>
          <p:cNvSpPr/>
          <p:nvPr/>
        </p:nvSpPr>
        <p:spPr>
          <a:xfrm>
            <a:off x="898569" y="915598"/>
            <a:ext cx="11424060" cy="3139321"/>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         ●  Dataset Overview</a:t>
            </a:r>
          </a:p>
          <a:p>
            <a:pPr algn="just"/>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Name</a:t>
            </a:r>
            <a:r>
              <a:rPr lang="en-US" dirty="0">
                <a:latin typeface="Times New Roman" panose="02020603050405020304" pitchFamily="18" charset="0"/>
                <a:cs typeface="Times New Roman" panose="02020603050405020304" pitchFamily="18" charset="0"/>
              </a:rPr>
              <a:t>: Facial Expression Recognition 2013 (FER-2013)</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Source</a:t>
            </a:r>
            <a:r>
              <a:rPr lang="en-US" dirty="0">
                <a:latin typeface="Times New Roman" panose="02020603050405020304" pitchFamily="18" charset="0"/>
                <a:cs typeface="Times New Roman" panose="02020603050405020304" pitchFamily="18" charset="0"/>
              </a:rPr>
              <a:t>: Kaggle – Emotion Detection FER by Ananthu PS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Format</a:t>
            </a:r>
            <a:r>
              <a:rPr lang="en-US" dirty="0">
                <a:latin typeface="Times New Roman" panose="02020603050405020304" pitchFamily="18" charset="0"/>
                <a:cs typeface="Times New Roman" panose="02020603050405020304" pitchFamily="18" charset="0"/>
              </a:rPr>
              <a:t>: Folder-structured dataset with images categorized into emotion-specific directories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Image Details</a:t>
            </a:r>
            <a:r>
              <a:rPr lang="en-US" dirty="0">
                <a:latin typeface="Times New Roman" panose="02020603050405020304" pitchFamily="18" charset="0"/>
                <a:cs typeface="Times New Roman" panose="02020603050405020304" pitchFamily="18" charset="0"/>
              </a:rPr>
              <a:t>:</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Size</a:t>
            </a:r>
            <a:r>
              <a:rPr lang="en-US" dirty="0">
                <a:latin typeface="Times New Roman" panose="02020603050405020304" pitchFamily="18" charset="0"/>
                <a:cs typeface="Times New Roman" panose="02020603050405020304" pitchFamily="18" charset="0"/>
              </a:rPr>
              <a:t>: 48×48 pixels</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Color</a:t>
            </a:r>
            <a:r>
              <a:rPr lang="en-US" dirty="0">
                <a:latin typeface="Times New Roman" panose="02020603050405020304" pitchFamily="18" charset="0"/>
                <a:cs typeface="Times New Roman" panose="02020603050405020304" pitchFamily="18" charset="0"/>
              </a:rPr>
              <a:t>: Grayscale</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Type</a:t>
            </a:r>
            <a:r>
              <a:rPr lang="en-US" dirty="0">
                <a:latin typeface="Times New Roman" panose="02020603050405020304" pitchFamily="18" charset="0"/>
                <a:cs typeface="Times New Roman" panose="02020603050405020304" pitchFamily="18" charset="0"/>
              </a:rPr>
              <a:t>: PNG/JPG</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Total Images</a:t>
            </a:r>
            <a:r>
              <a:rPr lang="en-US" dirty="0">
                <a:latin typeface="Times New Roman" panose="02020603050405020304" pitchFamily="18" charset="0"/>
                <a:cs typeface="Times New Roman" panose="02020603050405020304" pitchFamily="18" charset="0"/>
              </a:rPr>
              <a:t>: 35,887</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Classes</a:t>
            </a:r>
            <a:r>
              <a:rPr lang="en-US" dirty="0">
                <a:latin typeface="Times New Roman" panose="02020603050405020304" pitchFamily="18" charset="0"/>
                <a:cs typeface="Times New Roman" panose="02020603050405020304" pitchFamily="18" charset="0"/>
              </a:rPr>
              <a:t>: 7 emotions​</a:t>
            </a:r>
          </a:p>
        </p:txBody>
      </p:sp>
      <p:sp>
        <p:nvSpPr>
          <p:cNvPr id="15" name="Rectangle 10"/>
          <p:cNvSpPr>
            <a:spLocks noChangeArrowheads="1"/>
          </p:cNvSpPr>
          <p:nvPr/>
        </p:nvSpPr>
        <p:spPr bwMode="auto">
          <a:xfrm>
            <a:off x="898569" y="4323339"/>
            <a:ext cx="1129343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Directory Structure</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is organized into two main directories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Contains subdirectories for each emotion class with respective training images.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Contains subdirectories for each emotion class with respective testing images.​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cs230.stanford.edu+1ResearchGate+1</a:t>
            </a: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subdirectory is named after the emotion it represents (e.g.,</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train/happy/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test/sad/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3"/>
          <p:cNvSpPr/>
          <p:nvPr/>
        </p:nvSpPr>
        <p:spPr>
          <a:xfrm>
            <a:off x="11798119" y="6530751"/>
            <a:ext cx="3000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2257498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4426" y="544907"/>
            <a:ext cx="9405257" cy="1508105"/>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 License Information</a:t>
            </a:r>
          </a:p>
          <a:p>
            <a:pPr algn="just"/>
            <a:endParaRPr lang="en-US"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dataset is publicly available on Kaggle. However, specific license details are not provided on the dataset page. It's advisable to review the dataset's </a:t>
            </a:r>
            <a:r>
              <a:rPr lang="en-US" dirty="0">
                <a:latin typeface="Times New Roman" panose="02020603050405020304" pitchFamily="18" charset="0"/>
                <a:cs typeface="Times New Roman" panose="02020603050405020304" pitchFamily="18" charset="0"/>
                <a:hlinkClick r:id="rId2"/>
              </a:rPr>
              <a:t>Kaggle page</a:t>
            </a:r>
            <a:r>
              <a:rPr lang="en-US" dirty="0">
                <a:latin typeface="Times New Roman" panose="02020603050405020304" pitchFamily="18" charset="0"/>
                <a:cs typeface="Times New Roman" panose="02020603050405020304" pitchFamily="18" charset="0"/>
              </a:rPr>
              <a:t> for any updates or contact the dataset uploader for clarification on usage rights</a:t>
            </a:r>
          </a:p>
        </p:txBody>
      </p:sp>
      <p:graphicFrame>
        <p:nvGraphicFramePr>
          <p:cNvPr id="3" name="Table 2"/>
          <p:cNvGraphicFramePr>
            <a:graphicFrameLocks noGrp="1"/>
          </p:cNvGraphicFramePr>
          <p:nvPr>
            <p:extLst>
              <p:ext uri="{D42A27DB-BD31-4B8C-83A1-F6EECF244321}">
                <p14:modId xmlns:p14="http://schemas.microsoft.com/office/powerpoint/2010/main" val="1380787598"/>
              </p:ext>
            </p:extLst>
          </p:nvPr>
        </p:nvGraphicFramePr>
        <p:xfrm>
          <a:off x="1864426" y="3131424"/>
          <a:ext cx="8915400" cy="3291840"/>
        </p:xfrm>
        <a:graphic>
          <a:graphicData uri="http://schemas.openxmlformats.org/drawingml/2006/table">
            <a:tbl>
              <a:tblPr/>
              <a:tblGrid>
                <a:gridCol w="2228850">
                  <a:extLst>
                    <a:ext uri="{9D8B030D-6E8A-4147-A177-3AD203B41FA5}">
                      <a16:colId xmlns:a16="http://schemas.microsoft.com/office/drawing/2014/main" val="20000"/>
                    </a:ext>
                  </a:extLst>
                </a:gridCol>
                <a:gridCol w="222885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gridCol w="2228850">
                  <a:extLst>
                    <a:ext uri="{9D8B030D-6E8A-4147-A177-3AD203B41FA5}">
                      <a16:colId xmlns:a16="http://schemas.microsoft.com/office/drawing/2014/main" val="20003"/>
                    </a:ext>
                  </a:extLst>
                </a:gridCol>
              </a:tblGrid>
              <a:tr h="0">
                <a:tc>
                  <a:txBody>
                    <a:bodyPr/>
                    <a:lstStyle/>
                    <a:p>
                      <a:r>
                        <a:rPr lang="en-US" dirty="0">
                          <a:latin typeface="Times New Roman" panose="02020603050405020304" pitchFamily="18" charset="0"/>
                          <a:cs typeface="Times New Roman" panose="02020603050405020304" pitchFamily="18" charset="0"/>
                        </a:rPr>
                        <a:t>Emotion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Training 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Testing 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Total 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0">
                <a:tc>
                  <a:txBody>
                    <a:bodyPr/>
                    <a:lstStyle/>
                    <a:p>
                      <a:r>
                        <a:rPr lang="en-US" dirty="0">
                          <a:latin typeface="Times New Roman" panose="02020603050405020304" pitchFamily="18" charset="0"/>
                          <a:cs typeface="Times New Roman" panose="02020603050405020304" pitchFamily="18" charset="0"/>
                        </a:rPr>
                        <a:t>Angry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3,995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958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4,953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0">
                <a:tc>
                  <a:txBody>
                    <a:bodyPr/>
                    <a:lstStyle/>
                    <a:p>
                      <a:r>
                        <a:rPr lang="en-US" dirty="0">
                          <a:latin typeface="Times New Roman" panose="02020603050405020304" pitchFamily="18" charset="0"/>
                          <a:cs typeface="Times New Roman" panose="02020603050405020304" pitchFamily="18" charset="0"/>
                        </a:rPr>
                        <a:t>Disgusted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436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547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0">
                <a:tc>
                  <a:txBody>
                    <a:bodyPr/>
                    <a:lstStyle/>
                    <a:p>
                      <a:r>
                        <a:rPr lang="en-US" dirty="0">
                          <a:latin typeface="Times New Roman" panose="02020603050405020304" pitchFamily="18" charset="0"/>
                          <a:cs typeface="Times New Roman" panose="02020603050405020304" pitchFamily="18" charset="0"/>
                        </a:rPr>
                        <a:t>Fearful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4,097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1,024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5,121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0">
                <a:tc>
                  <a:txBody>
                    <a:bodyPr/>
                    <a:lstStyle/>
                    <a:p>
                      <a:r>
                        <a:rPr lang="en-US" dirty="0">
                          <a:latin typeface="Times New Roman" panose="02020603050405020304" pitchFamily="18" charset="0"/>
                          <a:cs typeface="Times New Roman" panose="02020603050405020304" pitchFamily="18" charset="0"/>
                        </a:rPr>
                        <a:t>Happy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7,215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1,774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8,989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0">
                <a:tc>
                  <a:txBody>
                    <a:bodyPr/>
                    <a:lstStyle/>
                    <a:p>
                      <a:r>
                        <a:rPr lang="en-US" dirty="0">
                          <a:latin typeface="Times New Roman" panose="02020603050405020304" pitchFamily="18" charset="0"/>
                          <a:cs typeface="Times New Roman" panose="02020603050405020304" pitchFamily="18" charset="0"/>
                        </a:rPr>
                        <a:t>Neutral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4,965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1,233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6,198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0">
                <a:tc>
                  <a:txBody>
                    <a:bodyPr/>
                    <a:lstStyle/>
                    <a:p>
                      <a:r>
                        <a:rPr lang="en-US" dirty="0">
                          <a:latin typeface="Times New Roman" panose="02020603050405020304" pitchFamily="18" charset="0"/>
                          <a:cs typeface="Times New Roman" panose="02020603050405020304" pitchFamily="18" charset="0"/>
                        </a:rPr>
                        <a:t>Sad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4,830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1,247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6,077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0">
                <a:tc>
                  <a:txBody>
                    <a:bodyPr/>
                    <a:lstStyle/>
                    <a:p>
                      <a:r>
                        <a:rPr lang="en-US" dirty="0">
                          <a:latin typeface="Times New Roman" panose="02020603050405020304" pitchFamily="18" charset="0"/>
                          <a:cs typeface="Times New Roman" panose="02020603050405020304" pitchFamily="18" charset="0"/>
                        </a:rPr>
                        <a:t>Surprised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3,171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831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New Roman" panose="02020603050405020304" pitchFamily="18" charset="0"/>
                          <a:cs typeface="Times New Roman" panose="02020603050405020304" pitchFamily="18" charset="0"/>
                        </a:rPr>
                        <a:t>4,002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0">
                <a:tc>
                  <a:txBody>
                    <a:bodyPr/>
                    <a:lstStyle/>
                    <a:p>
                      <a:r>
                        <a:rPr lang="en-US" b="1" dirty="0">
                          <a:latin typeface="Times New Roman" panose="02020603050405020304" pitchFamily="18" charset="0"/>
                          <a:cs typeface="Times New Roman" panose="02020603050405020304" pitchFamily="18" charset="0"/>
                        </a:rPr>
                        <a:t>Total</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latin typeface="Times New Roman" panose="02020603050405020304" pitchFamily="18" charset="0"/>
                          <a:cs typeface="Times New Roman" panose="02020603050405020304" pitchFamily="18" charset="0"/>
                        </a:rPr>
                        <a:t>28,709</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latin typeface="Times New Roman" panose="02020603050405020304" pitchFamily="18" charset="0"/>
                          <a:cs typeface="Times New Roman" panose="02020603050405020304" pitchFamily="18" charset="0"/>
                        </a:rPr>
                        <a:t>7,178</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latin typeface="Times New Roman" panose="02020603050405020304" pitchFamily="18" charset="0"/>
                          <a:cs typeface="Times New Roman" panose="02020603050405020304" pitchFamily="18" charset="0"/>
                        </a:rPr>
                        <a:t>35,887</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
        <p:nvSpPr>
          <p:cNvPr id="4" name="Rectangle 1"/>
          <p:cNvSpPr>
            <a:spLocks noChangeArrowheads="1"/>
          </p:cNvSpPr>
          <p:nvPr/>
        </p:nvSpPr>
        <p:spPr bwMode="auto">
          <a:xfrm>
            <a:off x="1864426" y="2502096"/>
            <a:ext cx="486543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000" b="1" dirty="0">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Emotion Classes and Image Distribution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11773735" y="6488668"/>
            <a:ext cx="3000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18080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166" y="1206334"/>
            <a:ext cx="10129651" cy="3754874"/>
          </a:xfrm>
          <a:prstGeom prst="rect">
            <a:avLst/>
          </a:prstGeom>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 Suitability for Your Machine Learning Pipeline :</a:t>
            </a:r>
          </a:p>
          <a:p>
            <a:pPr algn="just"/>
            <a:endParaRPr lang="en-US" sz="2000"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Given your pipeline's design:​</a:t>
            </a: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Image Processing</a:t>
            </a:r>
            <a:r>
              <a:rPr lang="en-US" dirty="0">
                <a:latin typeface="Times New Roman" panose="02020603050405020304" pitchFamily="18" charset="0"/>
                <a:cs typeface="Times New Roman" panose="02020603050405020304" pitchFamily="18" charset="0"/>
              </a:rPr>
              <a:t>: Utilizes OpenCV to read and resize images to 48×48 pixels, matching the dataset's specifications.</a:t>
            </a: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Handling</a:t>
            </a:r>
            <a:r>
              <a:rPr lang="en-US" dirty="0">
                <a:latin typeface="Times New Roman" panose="02020603050405020304" pitchFamily="18" charset="0"/>
                <a:cs typeface="Times New Roman" panose="02020603050405020304" pitchFamily="18" charset="0"/>
              </a:rPr>
              <a:t>: Flattens images into 1D arrays, suitable for feeding into traditional machine learning models like SVM.</a:t>
            </a:r>
          </a:p>
          <a:p>
            <a:pPr algn="just"/>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Training</a:t>
            </a:r>
            <a:r>
              <a:rPr lang="en-US" dirty="0">
                <a:latin typeface="Times New Roman" panose="02020603050405020304" pitchFamily="18" charset="0"/>
                <a:cs typeface="Times New Roman" panose="02020603050405020304" pitchFamily="18" charset="0"/>
              </a:rPr>
              <a:t>: Employs Support Vector Classifier (SVC) from scikit-learn, appropriate for the dataset's size and structure.​</a:t>
            </a:r>
          </a:p>
          <a:p>
            <a:pPr algn="just"/>
            <a:r>
              <a:rPr lang="en-US" dirty="0">
                <a:latin typeface="Times New Roman" panose="02020603050405020304" pitchFamily="18" charset="0"/>
                <a:cs typeface="Times New Roman" panose="02020603050405020304" pitchFamily="18" charset="0"/>
              </a:rPr>
              <a:t>This alignment ensures efficient integration and effective training of your emotion classification model.</a:t>
            </a:r>
          </a:p>
        </p:txBody>
      </p:sp>
      <p:sp>
        <p:nvSpPr>
          <p:cNvPr id="3" name="Rectangle 2"/>
          <p:cNvSpPr/>
          <p:nvPr/>
        </p:nvSpPr>
        <p:spPr>
          <a:xfrm>
            <a:off x="11785927" y="6488668"/>
            <a:ext cx="3000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7</a:t>
            </a:r>
          </a:p>
        </p:txBody>
      </p:sp>
    </p:spTree>
    <p:extLst>
      <p:ext uri="{BB962C8B-B14F-4D97-AF65-F5344CB8AC3E}">
        <p14:creationId xmlns:p14="http://schemas.microsoft.com/office/powerpoint/2010/main" val="895604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0035" y="842480"/>
            <a:ext cx="10545289" cy="5078313"/>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   Goal: </a:t>
            </a:r>
            <a:r>
              <a:rPr lang="en-US" dirty="0">
                <a:latin typeface="Times New Roman" panose="02020603050405020304" pitchFamily="18" charset="0"/>
                <a:cs typeface="Times New Roman" panose="02020603050405020304" pitchFamily="18" charset="0"/>
              </a:rPr>
              <a:t>Build a machine learning model to classify human emotions from facial images using grayscale data from the FER-2013 dataset.</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STEP 1: Imports and Setup</a:t>
            </a:r>
          </a:p>
          <a:p>
            <a:pPr algn="just"/>
            <a:r>
              <a:rPr lang="en-US" dirty="0">
                <a:latin typeface="Times New Roman" panose="02020603050405020304" pitchFamily="18" charset="0"/>
                <a:cs typeface="Times New Roman" panose="02020603050405020304" pitchFamily="18" charset="0"/>
              </a:rPr>
              <a:t>Python libraries used:</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os – To handle file paths.</a:t>
            </a:r>
          </a:p>
          <a:p>
            <a:pPr algn="jus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 For working with image arrays.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scikit-learn – For splitting data, training the model (SVM), and checking accuracy.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joblib – To save and load the trained model.</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STEP 2 : Dataset Path Setup</a:t>
            </a:r>
          </a:p>
          <a:p>
            <a:pPr algn="just"/>
            <a:r>
              <a:rPr lang="en-US" dirty="0">
                <a:latin typeface="Times New Roman" panose="02020603050405020304" pitchFamily="18" charset="0"/>
                <a:cs typeface="Times New Roman" panose="02020603050405020304" pitchFamily="18" charset="0"/>
              </a:rPr>
              <a:t>The dataset is downloaded and extracted locally to:</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C:\Users\Shreya\Desktop\f\archive\train</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C:\Users\Shreya\Desktop\f\archive\test</a:t>
            </a:r>
          </a:p>
          <a:p>
            <a:pPr algn="just"/>
            <a:r>
              <a:rPr lang="en-US" dirty="0">
                <a:latin typeface="Times New Roman" panose="02020603050405020304" pitchFamily="18" charset="0"/>
                <a:cs typeface="Times New Roman" panose="02020603050405020304" pitchFamily="18" charset="0"/>
              </a:rPr>
              <a:t>The script checks if these folders exist. If not, it alerts the user.</a:t>
            </a:r>
          </a:p>
        </p:txBody>
      </p:sp>
      <p:sp>
        <p:nvSpPr>
          <p:cNvPr id="3" name="TextBox 2"/>
          <p:cNvSpPr txBox="1"/>
          <p:nvPr/>
        </p:nvSpPr>
        <p:spPr>
          <a:xfrm>
            <a:off x="3016332" y="0"/>
            <a:ext cx="5973289" cy="400110"/>
          </a:xfrm>
          <a:prstGeom prst="rect">
            <a:avLst/>
          </a:prstGeom>
          <a:noFill/>
        </p:spPr>
        <p:txBody>
          <a:bodyPr wrap="square" rtlCol="0">
            <a:spAutoFit/>
          </a:bodyPr>
          <a:lstStyle/>
          <a:p>
            <a:pPr fontAlgn="ctr"/>
            <a:r>
              <a:rPr lang="en-US" sz="2000" b="1" dirty="0">
                <a:latin typeface="Times New Roman" panose="02020603050405020304" pitchFamily="18" charset="0"/>
                <a:cs typeface="Times New Roman" panose="02020603050405020304" pitchFamily="18" charset="0"/>
              </a:rPr>
              <a:t>                             4 Implementation</a:t>
            </a:r>
          </a:p>
        </p:txBody>
      </p:sp>
      <p:sp>
        <p:nvSpPr>
          <p:cNvPr id="4" name="Rectangle 3"/>
          <p:cNvSpPr/>
          <p:nvPr/>
        </p:nvSpPr>
        <p:spPr>
          <a:xfrm>
            <a:off x="11725283" y="6488668"/>
            <a:ext cx="3000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1743688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1085" y="145151"/>
            <a:ext cx="9124208" cy="1754326"/>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STEP 3 : Emotion Labels</a:t>
            </a:r>
          </a:p>
          <a:p>
            <a:pPr algn="just"/>
            <a:r>
              <a:rPr lang="en-US" dirty="0">
                <a:latin typeface="Times New Roman" panose="02020603050405020304" pitchFamily="18" charset="0"/>
                <a:cs typeface="Times New Roman" panose="02020603050405020304" pitchFamily="18" charset="0"/>
              </a:rPr>
              <a:t>You define the seven emotion categories: Angry,disgusted, fearful, happy, neutral, sad, surprised</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These are mapped to numbers using a dictionary: label_map = {emotion: idx for idx, emotion in enumerate(emotions)}</a:t>
            </a:r>
          </a:p>
          <a:p>
            <a:pPr algn="just"/>
            <a:r>
              <a:rPr lang="en-US" dirty="0">
                <a:latin typeface="Times New Roman" panose="02020603050405020304" pitchFamily="18" charset="0"/>
                <a:cs typeface="Times New Roman" panose="02020603050405020304" pitchFamily="18" charset="0"/>
              </a:rPr>
              <a:t>This is needed because machine learning models work with numbers, not text.</a:t>
            </a:r>
          </a:p>
        </p:txBody>
      </p:sp>
      <p:sp>
        <p:nvSpPr>
          <p:cNvPr id="3" name="Rectangle 2"/>
          <p:cNvSpPr/>
          <p:nvPr/>
        </p:nvSpPr>
        <p:spPr>
          <a:xfrm>
            <a:off x="1611085" y="2056686"/>
            <a:ext cx="10580915" cy="4801314"/>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STEP 4: Data Loading Function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Function: load_data(folder_path, limit=1000)</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What it does: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Goes through each emotion folder (e.g., train/happy, train/sad, etc.)</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Reads up to 1000 grayscale images from each folder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Resizes each image to 48x48 pixels (the default size for FER images)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Flattens the image into a 1D vector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the image and its label in arrays X and 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At the end, you get: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X → the image data</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y → the emotion labels (as text for now)</a:t>
            </a:r>
          </a:p>
          <a:p>
            <a:r>
              <a:rPr lang="en-US" dirty="0">
                <a:latin typeface="Times New Roman" panose="02020603050405020304" pitchFamily="18" charset="0"/>
                <a:cs typeface="Times New Roman" panose="02020603050405020304" pitchFamily="18" charset="0"/>
              </a:rPr>
              <a:t>Example: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48x48 image becomes a vector of size 2304 (48*48).</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Useful for traditional ML models like SVM.</a:t>
            </a:r>
          </a:p>
        </p:txBody>
      </p:sp>
      <p:sp>
        <p:nvSpPr>
          <p:cNvPr id="4" name="Rectangle 3"/>
          <p:cNvSpPr/>
          <p:nvPr/>
        </p:nvSpPr>
        <p:spPr>
          <a:xfrm>
            <a:off x="11749351" y="6488668"/>
            <a:ext cx="3000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9</a:t>
            </a:r>
          </a:p>
        </p:txBody>
      </p:sp>
    </p:spTree>
    <p:extLst>
      <p:ext uri="{BB962C8B-B14F-4D97-AF65-F5344CB8AC3E}">
        <p14:creationId xmlns:p14="http://schemas.microsoft.com/office/powerpoint/2010/main" val="2624806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62349" y="878105"/>
            <a:ext cx="9516093" cy="535531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Objectives of the Project: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gn="just">
              <a:buFont typeface="+mj-lt"/>
              <a:buAutoNum type="arabicPeriod"/>
            </a:pPr>
            <a:r>
              <a:rPr lang="en-US" dirty="0">
                <a:latin typeface="Times New Roman" panose="02020603050405020304" pitchFamily="18" charset="0"/>
                <a:cs typeface="Times New Roman" panose="02020603050405020304" pitchFamily="18" charset="0"/>
              </a:rPr>
              <a:t>To develop an intelligent system that can detect and classify human emotions from facial images.</a:t>
            </a:r>
          </a:p>
          <a:p>
            <a:pPr algn="just">
              <a:buFont typeface="+mj-lt"/>
              <a:buAutoNum type="arabicPeriod"/>
            </a:pPr>
            <a:endParaRPr lang="en-US" dirty="0">
              <a:latin typeface="Times New Roman" panose="02020603050405020304" pitchFamily="18" charset="0"/>
              <a:cs typeface="Times New Roman" panose="02020603050405020304" pitchFamily="18" charset="0"/>
            </a:endParaRPr>
          </a:p>
          <a:p>
            <a:pPr algn="just">
              <a:buFont typeface="+mj-lt"/>
              <a:buAutoNum type="arabicPeriod"/>
            </a:pPr>
            <a:r>
              <a:rPr lang="en-US" dirty="0">
                <a:latin typeface="Times New Roman" panose="02020603050405020304" pitchFamily="18" charset="0"/>
                <a:cs typeface="Times New Roman" panose="02020603050405020304" pitchFamily="18" charset="0"/>
              </a:rPr>
              <a:t>To implement a Support Vector Machine (SVM) model for accurate emotion classification.</a:t>
            </a:r>
          </a:p>
          <a:p>
            <a:pPr algn="just">
              <a:buFont typeface="+mj-lt"/>
              <a:buAutoNum type="arabicPeriod"/>
            </a:pPr>
            <a:endParaRPr lang="en-US" dirty="0">
              <a:latin typeface="Times New Roman" panose="02020603050405020304" pitchFamily="18" charset="0"/>
              <a:cs typeface="Times New Roman" panose="02020603050405020304" pitchFamily="18" charset="0"/>
            </a:endParaRPr>
          </a:p>
          <a:p>
            <a:pPr algn="just">
              <a:buFont typeface="+mj-lt"/>
              <a:buAutoNum type="arabicPeriod"/>
            </a:pPr>
            <a:r>
              <a:rPr lang="en-US" dirty="0">
                <a:latin typeface="Times New Roman" panose="02020603050405020304" pitchFamily="18" charset="0"/>
                <a:cs typeface="Times New Roman" panose="02020603050405020304" pitchFamily="18" charset="0"/>
              </a:rPr>
              <a:t>To preprocess all images by converting them to grayscale and resizing them to 48×48 pixels for uniformity.</a:t>
            </a:r>
          </a:p>
          <a:p>
            <a:pPr algn="just">
              <a:buFont typeface="+mj-lt"/>
              <a:buAutoNum type="arabicPeriod"/>
            </a:pPr>
            <a:endParaRPr lang="en-US" dirty="0">
              <a:latin typeface="Times New Roman" panose="02020603050405020304" pitchFamily="18" charset="0"/>
              <a:cs typeface="Times New Roman" panose="02020603050405020304" pitchFamily="18" charset="0"/>
            </a:endParaRPr>
          </a:p>
          <a:p>
            <a:pPr algn="just">
              <a:buFont typeface="+mj-lt"/>
              <a:buAutoNum type="arabicPeriod"/>
            </a:pPr>
            <a:r>
              <a:rPr lang="en-US" dirty="0">
                <a:latin typeface="Times New Roman" panose="02020603050405020304" pitchFamily="18" charset="0"/>
                <a:cs typeface="Times New Roman" panose="02020603050405020304" pitchFamily="18" charset="0"/>
              </a:rPr>
              <a:t>To evaluate the model's performance using accuracy and classification metrics.</a:t>
            </a:r>
          </a:p>
          <a:p>
            <a:pPr algn="just">
              <a:buFont typeface="+mj-lt"/>
              <a:buAutoNum type="arabicPeriod"/>
            </a:pPr>
            <a:endParaRPr lang="en-US" dirty="0">
              <a:latin typeface="Times New Roman" panose="02020603050405020304" pitchFamily="18" charset="0"/>
              <a:cs typeface="Times New Roman" panose="02020603050405020304" pitchFamily="18" charset="0"/>
            </a:endParaRPr>
          </a:p>
          <a:p>
            <a:pPr algn="just">
              <a:buFont typeface="+mj-lt"/>
              <a:buAutoNum type="arabicPeriod"/>
            </a:pPr>
            <a:r>
              <a:rPr lang="en-US" dirty="0">
                <a:latin typeface="Times New Roman" panose="02020603050405020304" pitchFamily="18" charset="0"/>
                <a:cs typeface="Times New Roman" panose="02020603050405020304" pitchFamily="18" charset="0"/>
              </a:rPr>
              <a:t>To save the trained model using joblib so that it can be reused for real-time prediction without retraining.</a:t>
            </a:r>
          </a:p>
          <a:p>
            <a:pPr algn="just">
              <a:buFont typeface="+mj-lt"/>
              <a:buAutoNum type="arabicPeriod"/>
            </a:pPr>
            <a:endParaRPr lang="en-US" dirty="0">
              <a:latin typeface="Times New Roman" panose="02020603050405020304" pitchFamily="18" charset="0"/>
              <a:cs typeface="Times New Roman" panose="02020603050405020304" pitchFamily="18" charset="0"/>
            </a:endParaRPr>
          </a:p>
          <a:p>
            <a:pPr algn="just">
              <a:buFont typeface="+mj-lt"/>
              <a:buAutoNum type="arabicPeriod"/>
            </a:pPr>
            <a:r>
              <a:rPr lang="en-US" dirty="0">
                <a:latin typeface="Times New Roman" panose="02020603050405020304" pitchFamily="18" charset="0"/>
                <a:cs typeface="Times New Roman" panose="02020603050405020304" pitchFamily="18" charset="0"/>
              </a:rPr>
              <a:t>To create a pipeline that is efficient, lightweight, and deployable on local machines for practical applications.</a:t>
            </a:r>
          </a:p>
        </p:txBody>
      </p:sp>
      <p:sp>
        <p:nvSpPr>
          <p:cNvPr id="6" name="TextBox 5"/>
          <p:cNvSpPr txBox="1"/>
          <p:nvPr/>
        </p:nvSpPr>
        <p:spPr>
          <a:xfrm>
            <a:off x="3776353" y="190005"/>
            <a:ext cx="5747657" cy="400110"/>
          </a:xfrm>
          <a:prstGeom prst="rect">
            <a:avLst/>
          </a:prstGeom>
          <a:noFill/>
        </p:spPr>
        <p:txBody>
          <a:bodyPr wrap="square" rtlCol="0">
            <a:spAutoFit/>
          </a:bodyPr>
          <a:lstStyle/>
          <a:p>
            <a:pPr fontAlgn="ctr"/>
            <a:r>
              <a:rPr lang="en-US" sz="2000" b="1" dirty="0">
                <a:latin typeface="Times New Roman" panose="02020603050405020304" pitchFamily="18" charset="0"/>
                <a:cs typeface="Times New Roman" panose="02020603050405020304" pitchFamily="18" charset="0"/>
              </a:rPr>
              <a:t>                    5 Designing Objectives </a:t>
            </a:r>
          </a:p>
        </p:txBody>
      </p:sp>
      <p:sp>
        <p:nvSpPr>
          <p:cNvPr id="2" name="Rectangle 1"/>
          <p:cNvSpPr/>
          <p:nvPr/>
        </p:nvSpPr>
        <p:spPr>
          <a:xfrm>
            <a:off x="11700583" y="6488668"/>
            <a:ext cx="41549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10</a:t>
            </a:r>
          </a:p>
        </p:txBody>
      </p:sp>
    </p:spTree>
    <p:extLst>
      <p:ext uri="{BB962C8B-B14F-4D97-AF65-F5344CB8AC3E}">
        <p14:creationId xmlns:p14="http://schemas.microsoft.com/office/powerpoint/2010/main" val="3486824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72342" y="1705376"/>
            <a:ext cx="9480468" cy="3139321"/>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In this first stage of the project, the goal and scope of the system were clearly understood. The facial emotion recognition dataset (FER-2013) was successfully collected and explored. A basic machine learning pipeline was created, where the images were preprocessed and used to train a Support Vector Machine (SVM) model to recognize seven types of emotions such as happy, sad, angry, and more.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model was able to give good results in early testing, which shows that the approach is working well. This first phase helped build a strong foundation by preparing the data, understanding the model behavior, and setting up the core structure of the project. In the next phases, the focus will be on improving the model's accuracy, adding more features, and testing it in real-time situations.</a:t>
            </a:r>
          </a:p>
          <a:p>
            <a:pPr algn="just"/>
            <a:endParaRPr lang="en-US"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802577" y="463137"/>
            <a:ext cx="6353299" cy="400110"/>
          </a:xfrm>
          <a:prstGeom prst="rect">
            <a:avLst/>
          </a:prstGeom>
          <a:noFill/>
        </p:spPr>
        <p:txBody>
          <a:bodyPr wrap="square" rtlCol="0">
            <a:spAutoFit/>
          </a:bodyPr>
          <a:lstStyle/>
          <a:p>
            <a:pPr fontAlgn="ctr"/>
            <a:r>
              <a:rPr lang="en-US" sz="2000" b="1" dirty="0">
                <a:latin typeface="Times New Roman" panose="02020603050405020304" pitchFamily="18" charset="0"/>
                <a:cs typeface="Times New Roman" panose="02020603050405020304" pitchFamily="18" charset="0"/>
              </a:rPr>
              <a:t>                                    6  Conclusion</a:t>
            </a:r>
          </a:p>
        </p:txBody>
      </p:sp>
      <p:sp>
        <p:nvSpPr>
          <p:cNvPr id="4" name="Rectangle 3"/>
          <p:cNvSpPr/>
          <p:nvPr/>
        </p:nvSpPr>
        <p:spPr>
          <a:xfrm>
            <a:off x="11554279" y="6488668"/>
            <a:ext cx="40690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11</a:t>
            </a:r>
          </a:p>
        </p:txBody>
      </p:sp>
    </p:spTree>
    <p:extLst>
      <p:ext uri="{BB962C8B-B14F-4D97-AF65-F5344CB8AC3E}">
        <p14:creationId xmlns:p14="http://schemas.microsoft.com/office/powerpoint/2010/main" val="1654078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87076" y="132999"/>
            <a:ext cx="1375889"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References</a:t>
            </a:r>
          </a:p>
        </p:txBody>
      </p:sp>
      <p:sp>
        <p:nvSpPr>
          <p:cNvPr id="3" name="Rectangle 1"/>
          <p:cNvSpPr>
            <a:spLocks noChangeArrowheads="1"/>
          </p:cNvSpPr>
          <p:nvPr/>
        </p:nvSpPr>
        <p:spPr bwMode="auto">
          <a:xfrm>
            <a:off x="632180" y="715187"/>
            <a:ext cx="11251061"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M. Mollahosseini, D. Chan, and M.H. Mahoor (2016). "Going deeper in facial expression recognition using deep neural networks." IEEE Winter Conference on Applications of Computer Vision (WACV), pp. 1–10, DOI: 10.1109/WACV.2016.7477450.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P. Lucey, J.F. Cohn, T. Kanade, J. Saragih, Z. Ambadar, and I. Matthews (2010). "The Extended Cohn-Kanade Dataset (CK+): A complete dataset for action unit and emotion-specified expression." IEEE CVPR Workshops, pp. 94–101, DOI: 10.1109/CVPRW.2010.5543262.</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Goodfellow, I., Erhan, D., Carrier, P.L., Courville, A., &amp; Bengio, Y. (2013). "Challenges in representation learning: A report on three machine learning contests." Neural Networks, 64, pp. 59–63, DOI: 10.1016/j.neunet.2014.09.005.</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K. Zhang, Y. Huang, Y. Du, and L. Wang (2017). "Facial Expression Recognition Based on Deep Evolutional Spatial-Temporal Networks." IEEE Transactions on Image Processing, vol. 26, no. 9, pp. 4193–4203, DOI: 10.1109/TIP.2017.2708502.</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Li, S., &amp; Deng, W. (2020). "Deep facial expression recognition: A survey." IEEE Transactions on Affective Computing, vol. 13, no. 3, pp. 1195–1215, DOI: 10.1109/TAFFC.2020.2981446.</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Barsoum, E., Zhang, C., Ferrer, C.C., &amp; Zhang, Z. (2016). "Training deep networks for facial expression recognition with crowd-sourced label distribution." Proceedings of the 18th ACM International Conference on Multimodal Interaction, pp. 279–283, DOI: 10.1145/2993148.2993165.</a:t>
            </a:r>
          </a:p>
        </p:txBody>
      </p:sp>
      <p:sp>
        <p:nvSpPr>
          <p:cNvPr id="4" name="Rectangle 3"/>
          <p:cNvSpPr/>
          <p:nvPr/>
        </p:nvSpPr>
        <p:spPr>
          <a:xfrm>
            <a:off x="11733200" y="6488668"/>
            <a:ext cx="41549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12</a:t>
            </a:r>
          </a:p>
        </p:txBody>
      </p:sp>
    </p:spTree>
    <p:extLst>
      <p:ext uri="{BB962C8B-B14F-4D97-AF65-F5344CB8AC3E}">
        <p14:creationId xmlns:p14="http://schemas.microsoft.com/office/powerpoint/2010/main" val="129284341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341</TotalTime>
  <Words>2181</Words>
  <Application>Microsoft Office PowerPoint</Application>
  <PresentationFormat>Widescreen</PresentationFormat>
  <Paragraphs>252</Paragraphs>
  <Slides>14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Bookman Old Style</vt:lpstr>
      <vt:lpstr>Calibri</vt:lpstr>
      <vt:lpstr>Century Gothic</vt:lpstr>
      <vt:lpstr>Times New Roman</vt:lpstr>
      <vt:lpstr>Wingdings 3</vt:lpstr>
      <vt:lpstr>Wisp</vt:lpstr>
      <vt:lpstr>                                                                                                                                                   Government College of Engineering, Karad               (An Autonomous Institute of Government of Maharashtra)                            Department of Information Technology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Government College of Engineering, Karad (An Autonomous Institute of Government of Maharashtra) Department of Information Technology</dc:title>
  <dc:creator>AMIT</dc:creator>
  <cp:lastModifiedBy>shreya khadke</cp:lastModifiedBy>
  <cp:revision>57</cp:revision>
  <dcterms:created xsi:type="dcterms:W3CDTF">2022-01-28T13:48:24Z</dcterms:created>
  <dcterms:modified xsi:type="dcterms:W3CDTF">2025-09-03T15:34:56Z</dcterms:modified>
</cp:coreProperties>
</file>